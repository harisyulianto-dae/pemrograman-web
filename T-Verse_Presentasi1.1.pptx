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Slides/notesSlide8.xml" ContentType="application/vnd.openxmlformats-officedocument.presentationml.notesSlide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 autoCompressPictures="0">
  <p:sldMasterIdLst>
    <p:sldMasterId id="2147483648" r:id="rId1"/>
  </p:sldMasterIdLst>
  <p:notesMasterIdLst>
    <p:notesMasterId r:id="rId2"/>
  </p:notesMasterIdLst>
  <p:sldIdLst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8" r:id="rId13"/>
    <p:sldId id="269" r:id="rId14"/>
    <p:sldId id="270" r:id="rId15"/>
    <p:sldId id="271" r:id="rId16"/>
    <p:sldId id="272" r:id="rId17"/>
  </p:sldIdLst>
  <p:sldSz cy="5143500" cx="9144000"/>
  <p:notesSz cx="5143500" cy="9144000"/>
  <p:defaultTextStyle>
    <a:lvl1pPr algn="l" defTabSz="914400" eaLnBrk="1" hangingPunct="1" latinLnBrk="0" marL="0" rtl="0">
      <a:defRPr sz="1800" kern="12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sz="1800" kern="12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sz="1800" kern="12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sz="1800" kern="12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sz="1800" kern="12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sz="1800" kern="12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sz="1800" kern="12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sz="1800" kern="12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 xmlns:r="http://schemas.openxmlformats.org/officeDocument/2006/relationships" xmlns:a="http://schemas.openxmlformats.org/drawing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r="http://schemas.openxmlformats.org/officeDocument/2006/relationships" xmlns:a="http://schemas.openxmlformats.org/drawing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tableStyles" Target="tableStyles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/Relationships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5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53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/>
        </p:spPr>
        <p:txBody>
          <a:bodyPr bIns="45720" lIns="91440" rIns="91440" rtlCol="0" tIns="45720" vert="horz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1048854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/>
        </p:spPr>
        <p:txBody>
          <a:bodyPr bIns="45720" lIns="91440" rIns="91440" rtlCol="0" tIns="45720" vert="horz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1048855" name="Slide Image Placeholder 3"/>
          <p:cNvSpPr>
            <a:spLocks noChangeAspect="1" noRot="1" noGrp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/>
          <a:noFill/>
          <a:ln w="12700">
            <a:solidFill>
              <a:prstClr val="black"/>
            </a:solidFill>
          </a:ln>
        </p:spPr>
        <p:txBody>
          <a:bodyPr anchor="ctr" bIns="45720" lIns="91440" rIns="91440" rtlCol="0" tIns="45720" vert="horz"/>
          <a:p>
            <a:endParaRPr lang="en-US"/>
          </a:p>
        </p:txBody>
      </p:sp>
      <p:sp>
        <p:nvSpPr>
          <p:cNvPr id="1048856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/>
        </p:spPr>
        <p:txBody>
          <a:bodyPr bIns="45720" lIns="91440" rIns="91440" rtlCol="0" tIns="45720" vert="horz"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1048857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/>
        </p:spPr>
        <p:txBody>
          <a:bodyPr anchor="b" bIns="45720" lIns="91440" rIns="91440" rtlCol="0" tIns="45720" vert="horz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1048858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/>
        </p:spPr>
        <p:txBody>
          <a:bodyPr anchor="b" bIns="45720" lIns="91440" rIns="91440" rtlCol="0" tIns="45720" vert="horz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accent1="accent1" accent2="accent2" accent3="accent3" accent4="accent4" accent5="accent5" accent6="accent6" bg1="lt1" bg2="lt2" tx1="dk1" tx2="dk2" hlink="hlink" folHlink="folHlink"/>
  <p:notesStyle>
    <a:lvl1pPr algn="l" defTabSz="914400" eaLnBrk="1" hangingPunct="1" latinLnBrk="0" marL="0" rtl="0">
      <a:defRPr sz="1200" kern="12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sz="1200" kern="12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sz="1200" kern="12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sz="1200" kern="12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sz="1200" kern="12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sz="1200" kern="12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sz="1200" kern="12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sz="1200" kern="12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_rels/notesSlide2.xml.rels><?xml version="1.0" encoding="UTF-8" standalone="yes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</file>

<file path=ppt/notesSlides/_rels/notesSlide3.xml.rels><?xml version="1.0" encoding="UTF-8" standalone="yes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</file>

<file path=ppt/notesSlides/_rels/notesSlide4.xml.rels><?xml version="1.0" encoding="UTF-8" standalone="yes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</file>

<file path=ppt/notesSlides/_rels/notesSlide5.xml.rels><?xml version="1.0" encoding="UTF-8" standalone="yes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</Relationships>
</file>

<file path=ppt/notesSlides/_rels/notesSlide6.xml.rels><?xml version="1.0" encoding="UTF-8" standalone="yes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</Relationships>
</file>

<file path=ppt/notesSlides/_rels/notesSlide7.xml.rels><?xml version="1.0" encoding="UTF-8" standalone="yes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</Relationships>
</file>

<file path=ppt/notesSlides/_rels/notesSlide8.xml.rels><?xml version="1.0" encoding="UTF-8" standalone="yes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5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586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dirty="0" lang="en-US"/>
          </a:p>
        </p:txBody>
      </p:sp>
      <p:sp>
        <p:nvSpPr>
          <p:cNvPr id="1048587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6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607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dirty="0" lang="en-US"/>
          </a:p>
        </p:txBody>
      </p:sp>
      <p:sp>
        <p:nvSpPr>
          <p:cNvPr id="1048608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3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64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dirty="0" lang="en-US"/>
          </a:p>
        </p:txBody>
      </p:sp>
      <p:sp>
        <p:nvSpPr>
          <p:cNvPr id="104864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2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67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dirty="0" lang="en-US"/>
          </a:p>
        </p:txBody>
      </p:sp>
      <p:sp>
        <p:nvSpPr>
          <p:cNvPr id="104867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19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720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dirty="0" lang="en-US"/>
          </a:p>
        </p:txBody>
      </p:sp>
      <p:sp>
        <p:nvSpPr>
          <p:cNvPr id="1048721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79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780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dirty="0" lang="en-US"/>
          </a:p>
        </p:txBody>
      </p:sp>
      <p:sp>
        <p:nvSpPr>
          <p:cNvPr id="1048781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22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82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dirty="0" lang="en-US"/>
          </a:p>
        </p:txBody>
      </p:sp>
      <p:sp>
        <p:nvSpPr>
          <p:cNvPr id="104882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50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851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dirty="0" lang="en-US"/>
          </a:p>
        </p:txBody>
      </p:sp>
      <p:sp>
        <p:nvSpPr>
          <p:cNvPr id="1048852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lt2" tx1="dk1" tx2="dk2" hlink="hlink" folHlink="folHlink"/>
  <p:sldLayoutIdLst>
    <p:sldLayoutId id="2147483649" r:id="rId1"/>
  </p:sldLayoutIdLst>
  <p:hf dt="0" ftr="0" hdr="0" sldNum="0"/>
  <p:txStyles>
    <p:titleStyle>
      <a:lvl1pPr algn="ctr" defTabSz="914400" eaLnBrk="1" hangingPunct="1" latinLnBrk="0" rtl="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914400" eaLnBrk="1" hangingPunct="1" indent="-342900" latinLnBrk="0" marL="342900" rtl="0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indent="-285750" latinLnBrk="0" marL="742950" rtl="0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indent="-228600" latinLnBrk="0" marL="1143000" rtl="0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indent="-228600" latinLnBrk="0" marL="1600200" rtl="0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indent="-228600" latinLnBrk="0" marL="2057400" rtl="0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indent="-228600" latinLnBrk="0" marL="2514600" rtl="0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indent="-228600" latinLnBrk="0" marL="2971800" rtl="0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indent="-228600" latinLnBrk="0" marL="3429000" rtl="0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indent="-228600" latinLnBrk="0" marL="3886200" rtl="0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914400" eaLnBrk="1" hangingPunct="1" latinLnBrk="0" marL="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latinLnBrk="0" marL="4572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latinLnBrk="0" marL="9144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latinLnBrk="0" marL="13716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latinLnBrk="0" marL="18288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latinLnBrk="0" marL="22860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latinLnBrk="0" marL="27432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latinLnBrk="0" marL="32004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latinLnBrk="0" marL="36576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.xml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.xml"/></Relationships>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1.xml"/></Relationships>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1.xml"/></Relationships>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40"/>
        </a:solidFill>
        <a:effectLst/>
      </p:bgPr>
    </p:bg>
    <p:spTree>
      <p:nvGrpSpPr>
        <p:cNvPr id="1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6" name="Shape 0"/>
          <p:cNvSpPr/>
          <p:nvPr/>
        </p:nvSpPr>
        <p:spPr>
          <a:xfrm>
            <a:off x="6858000" y="-1371600"/>
            <a:ext cx="4572000" cy="4572000"/>
          </a:xfrm>
          <a:prstGeom prst="ellipse"/>
          <a:solidFill>
            <a:srgbClr val="028090">
              <a:alpha val="25000"/>
            </a:srgbClr>
          </a:solidFill>
          <a:ln w="12700">
            <a:solidFill>
              <a:srgbClr val="028090">
                <a:alpha val="25000"/>
              </a:srgbClr>
            </a:solidFill>
            <a:prstDash val="solid"/>
          </a:ln>
        </p:spPr>
      </p:sp>
      <p:sp>
        <p:nvSpPr>
          <p:cNvPr id="1048577" name="Shape 1"/>
          <p:cNvSpPr/>
          <p:nvPr/>
        </p:nvSpPr>
        <p:spPr>
          <a:xfrm>
            <a:off x="-1371600" y="3152140"/>
            <a:ext cx="3200400" cy="3200400"/>
          </a:xfrm>
          <a:prstGeom prst="ellipse"/>
          <a:solidFill>
            <a:srgbClr val="02C39A">
              <a:alpha val="20000"/>
            </a:srgbClr>
          </a:solidFill>
          <a:ln w="12700">
            <a:solidFill>
              <a:srgbClr val="02C39A">
                <a:alpha val="20000"/>
              </a:srgbClr>
            </a:solidFill>
            <a:prstDash val="solid"/>
          </a:ln>
        </p:spPr>
        <p:txBody>
          <a:bodyPr/>
          <a:p>
            <a:endParaRPr altLang="en-US" lang="id-ID"/>
          </a:p>
        </p:txBody>
      </p:sp>
      <p:sp>
        <p:nvSpPr>
          <p:cNvPr id="1048578" name="Shape 2"/>
          <p:cNvSpPr/>
          <p:nvPr/>
        </p:nvSpPr>
        <p:spPr>
          <a:xfrm>
            <a:off x="548640" y="1371600"/>
            <a:ext cx="1645920" cy="365760"/>
          </a:xfrm>
          <a:prstGeom prst="roundRect">
            <a:avLst>
              <a:gd name="adj" fmla="val 12500"/>
            </a:avLst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048579" name="Text 3"/>
          <p:cNvSpPr/>
          <p:nvPr/>
        </p:nvSpPr>
        <p:spPr>
          <a:xfrm>
            <a:off x="548640" y="1371600"/>
            <a:ext cx="1645920" cy="36576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900" lang="en-US">
                <a:solidFill>
                  <a:srgbClr val="0D1B40"/>
                </a:solidFill>
              </a:rPr>
              <a:t>PROYEK AKHIR WEB</a:t>
            </a:r>
            <a:endParaRPr dirty="0" sz="900" lang="en-US"/>
          </a:p>
        </p:txBody>
      </p:sp>
      <p:sp>
        <p:nvSpPr>
          <p:cNvPr id="1048580" name="Text 4"/>
          <p:cNvSpPr/>
          <p:nvPr/>
        </p:nvSpPr>
        <p:spPr>
          <a:xfrm>
            <a:off x="548640" y="1920240"/>
            <a:ext cx="7772400" cy="118872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7200" kern="0" lang="en-US" spc="80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T-VERSE</a:t>
            </a:r>
            <a:endParaRPr dirty="0" sz="7200" lang="en-US"/>
          </a:p>
        </p:txBody>
      </p:sp>
      <p:sp>
        <p:nvSpPr>
          <p:cNvPr id="1048581" name="Text 5"/>
          <p:cNvSpPr/>
          <p:nvPr/>
        </p:nvSpPr>
        <p:spPr>
          <a:xfrm>
            <a:off x="548640" y="3017520"/>
            <a:ext cx="6858000" cy="54864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dirty="0" sz="2000" lang="en-US">
                <a:solidFill>
                  <a:srgbClr val="02C39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Sistem Pendataan Mahasiswa Berbasis Web</a:t>
            </a:r>
            <a:endParaRPr dirty="0" sz="2000" lang="en-US"/>
          </a:p>
        </p:txBody>
      </p:sp>
      <p:sp>
        <p:nvSpPr>
          <p:cNvPr id="1048582" name="Text 6"/>
          <p:cNvSpPr/>
          <p:nvPr/>
        </p:nvSpPr>
        <p:spPr>
          <a:xfrm>
            <a:off x="548640" y="3520440"/>
            <a:ext cx="4572000" cy="41148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dirty="0" sz="1600" lang="en-US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Menggunakan Laravel 12</a:t>
            </a:r>
            <a:endParaRPr dirty="0" sz="1600" lang="en-US"/>
          </a:p>
        </p:txBody>
      </p:sp>
      <p:sp>
        <p:nvSpPr>
          <p:cNvPr id="1048583" name="Text 7"/>
          <p:cNvSpPr/>
          <p:nvPr/>
        </p:nvSpPr>
        <p:spPr>
          <a:xfrm>
            <a:off x="548640" y="4297680"/>
            <a:ext cx="7772400" cy="36576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dirty="0" sz="1200" lang="en-US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Muhamad Sayyid Azzuhdi  ·  </a:t>
            </a:r>
            <a:r>
              <a:rPr dirty="0" sz="1200" lang="en-US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Darrel Yaghzan  ·  </a:t>
            </a:r>
            <a:r>
              <a:rPr dirty="0" sz="1200" lang="en-US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Haris Yulianto</a:t>
            </a:r>
            <a:endParaRPr dirty="0" sz="1200" lang="en-US"/>
          </a:p>
        </p:txBody>
      </p:sp>
      <p:sp>
        <p:nvSpPr>
          <p:cNvPr id="1048584" name="Text 8"/>
          <p:cNvSpPr/>
          <p:nvPr/>
        </p:nvSpPr>
        <p:spPr>
          <a:xfrm>
            <a:off x="548640" y="4663440"/>
            <a:ext cx="4572000" cy="27432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endParaRPr altLang="en-US" dirty="0" sz="1100" lang="id-ID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2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8" name="Shape 0"/>
          <p:cNvSpPr/>
          <p:nvPr/>
        </p:nvSpPr>
        <p:spPr>
          <a:xfrm>
            <a:off x="0" y="0"/>
            <a:ext cx="9144000" cy="914400"/>
          </a:xfrm>
          <a:prstGeom prst="rect"/>
          <a:solidFill>
            <a:srgbClr val="0D1B40"/>
          </a:solidFill>
          <a:ln w="12700">
            <a:solidFill>
              <a:srgbClr val="0D1B40"/>
            </a:solidFill>
            <a:prstDash val="solid"/>
          </a:ln>
        </p:spPr>
      </p:sp>
      <p:sp>
        <p:nvSpPr>
          <p:cNvPr id="1048589" name="Text 1"/>
          <p:cNvSpPr/>
          <p:nvPr/>
        </p:nvSpPr>
        <p:spPr>
          <a:xfrm>
            <a:off x="457200" y="0"/>
            <a:ext cx="8229600" cy="91440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2400" lang="en-US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PENDAHULUAN</a:t>
            </a:r>
            <a:endParaRPr dirty="0" sz="2400" lang="en-US"/>
          </a:p>
        </p:txBody>
      </p:sp>
      <p:sp>
        <p:nvSpPr>
          <p:cNvPr id="1048590" name="Shape 2"/>
          <p:cNvSpPr/>
          <p:nvPr/>
        </p:nvSpPr>
        <p:spPr>
          <a:xfrm>
            <a:off x="365760" y="1051560"/>
            <a:ext cx="4023360" cy="3566160"/>
          </a:xfrm>
          <a:prstGeom prst="roundRect">
            <a:avLst>
              <a:gd name="adj" fmla="val 2564"/>
            </a:avLst>
          </a:prstGeom>
          <a:solidFill>
            <a:srgbClr val="FFF8E1"/>
          </a:solidFill>
          <a:ln w="19050">
            <a:solidFill>
              <a:srgbClr val="F0B429"/>
            </a:solidFill>
            <a:prstDash val="solid"/>
          </a:ln>
        </p:spPr>
      </p:sp>
      <p:sp>
        <p:nvSpPr>
          <p:cNvPr id="1048591" name="Text 3"/>
          <p:cNvSpPr/>
          <p:nvPr/>
        </p:nvSpPr>
        <p:spPr>
          <a:xfrm>
            <a:off x="502920" y="1143000"/>
            <a:ext cx="3749040" cy="36576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1400" lang="en-US">
                <a:solidFill>
                  <a:srgbClr val="B4530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⚠ MASALAH</a:t>
            </a:r>
            <a:endParaRPr dirty="0" sz="1400" lang="en-US"/>
          </a:p>
        </p:txBody>
      </p:sp>
      <p:sp>
        <p:nvSpPr>
          <p:cNvPr id="1048592" name="Text 4"/>
          <p:cNvSpPr/>
          <p:nvPr/>
        </p:nvSpPr>
        <p:spPr>
          <a:xfrm>
            <a:off x="502920" y="1508760"/>
            <a:ext cx="3749040" cy="27432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dirty="0" sz="1200" lang="en-US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Pencatatan manual menyebabkan:</a:t>
            </a:r>
            <a:endParaRPr dirty="0" sz="1200" lang="en-US"/>
          </a:p>
        </p:txBody>
      </p:sp>
      <p:sp>
        <p:nvSpPr>
          <p:cNvPr id="1048593" name="Text 5"/>
          <p:cNvSpPr/>
          <p:nvPr/>
        </p:nvSpPr>
        <p:spPr>
          <a:xfrm>
            <a:off x="594360" y="1828800"/>
            <a:ext cx="3611880" cy="384048"/>
          </a:xfrm>
          <a:prstGeom prst="rect"/>
          <a:noFill/>
        </p:spPr>
        <p:txBody>
          <a:bodyPr anchor="ctr" rtlCol="0" wrap="square"/>
          <a:p>
            <a:pPr indent="-342900" marL="342900">
              <a:buSzPct val="100000"/>
              <a:buChar char="•"/>
            </a:pPr>
            <a:r>
              <a:rPr dirty="0" sz="1200" lang="en-US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Kesalahan pencatatan data</a:t>
            </a:r>
            <a:endParaRPr dirty="0" sz="1200" lang="en-US"/>
          </a:p>
        </p:txBody>
      </p:sp>
      <p:sp>
        <p:nvSpPr>
          <p:cNvPr id="1048594" name="Text 6"/>
          <p:cNvSpPr/>
          <p:nvPr/>
        </p:nvSpPr>
        <p:spPr>
          <a:xfrm>
            <a:off x="594360" y="2240280"/>
            <a:ext cx="3611880" cy="384048"/>
          </a:xfrm>
          <a:prstGeom prst="rect"/>
          <a:noFill/>
        </p:spPr>
        <p:txBody>
          <a:bodyPr anchor="ctr" rtlCol="0" wrap="square"/>
          <a:p>
            <a:pPr indent="-342900" marL="342900">
              <a:buSzPct val="100000"/>
              <a:buChar char="•"/>
            </a:pPr>
            <a:r>
              <a:rPr dirty="0" sz="1200" lang="en-US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 tidak terorganisir</a:t>
            </a:r>
            <a:endParaRPr dirty="0" sz="1200" lang="en-US"/>
          </a:p>
        </p:txBody>
      </p:sp>
      <p:sp>
        <p:nvSpPr>
          <p:cNvPr id="1048595" name="Text 7"/>
          <p:cNvSpPr/>
          <p:nvPr/>
        </p:nvSpPr>
        <p:spPr>
          <a:xfrm>
            <a:off x="594360" y="2651760"/>
            <a:ext cx="3611880" cy="384048"/>
          </a:xfrm>
          <a:prstGeom prst="rect"/>
          <a:noFill/>
        </p:spPr>
        <p:txBody>
          <a:bodyPr anchor="ctr" rtlCol="0" wrap="square"/>
          <a:p>
            <a:pPr indent="-342900" marL="342900">
              <a:buSzPct val="100000"/>
              <a:buChar char="•"/>
            </a:pPr>
            <a:r>
              <a:rPr dirty="0" sz="1200" lang="en-US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Sulit mencari &amp; memperbarui data</a:t>
            </a:r>
            <a:endParaRPr dirty="0" sz="1200" lang="en-US"/>
          </a:p>
        </p:txBody>
      </p:sp>
      <p:sp>
        <p:nvSpPr>
          <p:cNvPr id="1048596" name="Text 8"/>
          <p:cNvSpPr/>
          <p:nvPr/>
        </p:nvSpPr>
        <p:spPr>
          <a:xfrm>
            <a:off x="594360" y="3063240"/>
            <a:ext cx="3611880" cy="384048"/>
          </a:xfrm>
          <a:prstGeom prst="rect"/>
          <a:noFill/>
        </p:spPr>
        <p:txBody>
          <a:bodyPr anchor="ctr" rtlCol="0" wrap="square"/>
          <a:p>
            <a:pPr indent="-342900" marL="342900">
              <a:buSzPct val="100000"/>
              <a:buChar char="•"/>
            </a:pPr>
            <a:r>
              <a:rPr dirty="0" sz="1200" lang="en-US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Tidak efisien &amp; lambat</a:t>
            </a:r>
            <a:endParaRPr dirty="0" sz="1200" lang="en-US"/>
          </a:p>
        </p:txBody>
      </p:sp>
      <p:sp>
        <p:nvSpPr>
          <p:cNvPr id="1048597" name="Shape 9"/>
          <p:cNvSpPr/>
          <p:nvPr/>
        </p:nvSpPr>
        <p:spPr>
          <a:xfrm>
            <a:off x="4754880" y="1051560"/>
            <a:ext cx="4023360" cy="3566160"/>
          </a:xfrm>
          <a:prstGeom prst="roundRect">
            <a:avLst>
              <a:gd name="adj" fmla="val 2564"/>
            </a:avLst>
          </a:prstGeom>
          <a:solidFill>
            <a:srgbClr val="E6F7F5"/>
          </a:solidFill>
          <a:ln w="19050">
            <a:solidFill>
              <a:srgbClr val="028090"/>
            </a:solidFill>
            <a:prstDash val="solid"/>
          </a:ln>
        </p:spPr>
      </p:sp>
      <p:sp>
        <p:nvSpPr>
          <p:cNvPr id="1048598" name="Text 10"/>
          <p:cNvSpPr/>
          <p:nvPr/>
        </p:nvSpPr>
        <p:spPr>
          <a:xfrm>
            <a:off x="4892040" y="1143000"/>
            <a:ext cx="3749040" cy="36576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1400" lang="en-US">
                <a:solidFill>
                  <a:srgbClr val="02809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 SOLUSI: T-VERSE</a:t>
            </a:r>
            <a:endParaRPr dirty="0" sz="1400" lang="en-US"/>
          </a:p>
        </p:txBody>
      </p:sp>
      <p:sp>
        <p:nvSpPr>
          <p:cNvPr id="1048599" name="Text 11"/>
          <p:cNvSpPr/>
          <p:nvPr/>
        </p:nvSpPr>
        <p:spPr>
          <a:xfrm>
            <a:off x="4892040" y="1508760"/>
            <a:ext cx="3749040" cy="27432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dirty="0" sz="1200" lang="en-US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Aplikasi web berbasis Laravel 12:</a:t>
            </a:r>
            <a:endParaRPr dirty="0" sz="1200" lang="en-US"/>
          </a:p>
        </p:txBody>
      </p:sp>
      <p:sp>
        <p:nvSpPr>
          <p:cNvPr id="1048600" name="Text 12"/>
          <p:cNvSpPr/>
          <p:nvPr/>
        </p:nvSpPr>
        <p:spPr>
          <a:xfrm>
            <a:off x="4983480" y="1828800"/>
            <a:ext cx="3611880" cy="384048"/>
          </a:xfrm>
          <a:prstGeom prst="rect"/>
          <a:noFill/>
        </p:spPr>
        <p:txBody>
          <a:bodyPr anchor="ctr" rtlCol="0" wrap="square"/>
          <a:p>
            <a:pPr indent="-342900" marL="342900">
              <a:buSzPct val="100000"/>
              <a:buChar char="•"/>
            </a:pPr>
            <a:r>
              <a:rPr dirty="0" sz="1200" lang="en-US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Pengelolaan data digital &amp; terpusat</a:t>
            </a:r>
            <a:endParaRPr dirty="0" sz="1200" lang="en-US"/>
          </a:p>
        </p:txBody>
      </p:sp>
      <p:sp>
        <p:nvSpPr>
          <p:cNvPr id="1048601" name="Text 13"/>
          <p:cNvSpPr/>
          <p:nvPr/>
        </p:nvSpPr>
        <p:spPr>
          <a:xfrm>
            <a:off x="4983480" y="2240280"/>
            <a:ext cx="3611880" cy="384048"/>
          </a:xfrm>
          <a:prstGeom prst="rect"/>
          <a:noFill/>
        </p:spPr>
        <p:txBody>
          <a:bodyPr anchor="ctr" rtlCol="0" wrap="square"/>
          <a:p>
            <a:pPr indent="-342900" marL="342900">
              <a:buSzPct val="100000"/>
              <a:buChar char="•"/>
            </a:pPr>
            <a:r>
              <a:rPr dirty="0" sz="1200" lang="en-US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Antarmuka sederhana &amp; fungsional</a:t>
            </a:r>
            <a:endParaRPr dirty="0" sz="1200" lang="en-US"/>
          </a:p>
        </p:txBody>
      </p:sp>
      <p:sp>
        <p:nvSpPr>
          <p:cNvPr id="1048602" name="Text 14"/>
          <p:cNvSpPr/>
          <p:nvPr/>
        </p:nvSpPr>
        <p:spPr>
          <a:xfrm>
            <a:off x="4983480" y="2651760"/>
            <a:ext cx="3611880" cy="384048"/>
          </a:xfrm>
          <a:prstGeom prst="rect"/>
          <a:noFill/>
        </p:spPr>
        <p:txBody>
          <a:bodyPr anchor="ctr" rtlCol="0" wrap="square"/>
          <a:p>
            <a:pPr indent="-342900" marL="342900">
              <a:buSzPct val="100000"/>
              <a:buChar char="•"/>
            </a:pPr>
            <a:r>
              <a:rPr dirty="0" sz="1200" lang="en-US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CRUD (tambah, edit, hapus, cari)</a:t>
            </a:r>
            <a:endParaRPr dirty="0" sz="1200" lang="en-US"/>
          </a:p>
        </p:txBody>
      </p:sp>
      <p:sp>
        <p:nvSpPr>
          <p:cNvPr id="1048603" name="Text 15"/>
          <p:cNvSpPr/>
          <p:nvPr/>
        </p:nvSpPr>
        <p:spPr>
          <a:xfrm>
            <a:off x="4983480" y="3063240"/>
            <a:ext cx="3611880" cy="384048"/>
          </a:xfrm>
          <a:prstGeom prst="rect"/>
          <a:noFill/>
        </p:spPr>
        <p:txBody>
          <a:bodyPr anchor="ctr" rtlCol="0" wrap="square"/>
          <a:p>
            <a:pPr indent="-342900" marL="342900">
              <a:buSzPct val="100000"/>
              <a:buChar char="•"/>
            </a:pPr>
            <a:r>
              <a:rPr dirty="0" sz="1200" lang="en-US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Diakses dari berbagai perangkat</a:t>
            </a:r>
            <a:endParaRPr dirty="0" sz="1200" lang="en-US"/>
          </a:p>
        </p:txBody>
      </p:sp>
      <p:sp>
        <p:nvSpPr>
          <p:cNvPr id="1048604" name="Shape 16"/>
          <p:cNvSpPr/>
          <p:nvPr/>
        </p:nvSpPr>
        <p:spPr>
          <a:xfrm>
            <a:off x="365760" y="4709160"/>
            <a:ext cx="8412480" cy="320040"/>
          </a:xfrm>
          <a:prstGeom prst="rect"/>
          <a:solidFill>
            <a:srgbClr val="0D1B40"/>
          </a:solidFill>
          <a:ln w="12700">
            <a:solidFill>
              <a:srgbClr val="0D1B40"/>
            </a:solidFill>
            <a:prstDash val="solid"/>
          </a:ln>
        </p:spPr>
      </p:sp>
      <p:sp>
        <p:nvSpPr>
          <p:cNvPr id="1048605" name="Text 17"/>
          <p:cNvSpPr/>
          <p:nvPr/>
        </p:nvSpPr>
        <p:spPr>
          <a:xfrm>
            <a:off x="457200" y="4709160"/>
            <a:ext cx="8229600" cy="32004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dirty="0" sz="1100" lang="en-US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Tujuan: Sistem pendataan mahasiswa yang efisien, aman, dan mudah digunakan berbasis Laravel 12</a:t>
            </a:r>
            <a:endParaRPr dirty="0" sz="1100"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6F8"/>
        </a:solidFill>
        <a:effectLst/>
      </p:bgPr>
    </p:bg>
    <p:spTree>
      <p:nvGrpSpPr>
        <p:cNvPr id="2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9" name="Shape 0"/>
          <p:cNvSpPr/>
          <p:nvPr/>
        </p:nvSpPr>
        <p:spPr>
          <a:xfrm>
            <a:off x="0" y="0"/>
            <a:ext cx="9144000" cy="914400"/>
          </a:xfrm>
          <a:prstGeom prst="rect"/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048610" name="Text 1"/>
          <p:cNvSpPr/>
          <p:nvPr/>
        </p:nvSpPr>
        <p:spPr>
          <a:xfrm>
            <a:off x="457200" y="0"/>
            <a:ext cx="8229600" cy="91440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2400" lang="en-US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 KEBUTUHAN FUNGSIONAL</a:t>
            </a:r>
            <a:endParaRPr dirty="0" sz="2400" lang="en-US"/>
          </a:p>
        </p:txBody>
      </p:sp>
      <p:sp>
        <p:nvSpPr>
          <p:cNvPr id="1048611" name="Shape 2"/>
          <p:cNvSpPr/>
          <p:nvPr/>
        </p:nvSpPr>
        <p:spPr>
          <a:xfrm>
            <a:off x="320040" y="1097280"/>
            <a:ext cx="192024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D1E8EC"/>
            </a:solidFill>
            <a:prstDash val="solid"/>
          </a:ln>
          <a:effectLst>
            <a:outerShdw algn="bl" blurRad="63500" dir="2700000" dist="25400" rotWithShape="0">
              <a:srgbClr val="000000">
                <a:alpha val="8000"/>
              </a:srgbClr>
            </a:outerShdw>
          </a:effectLst>
        </p:spPr>
      </p:sp>
      <p:sp>
        <p:nvSpPr>
          <p:cNvPr id="1048612" name="Text 3"/>
          <p:cNvSpPr/>
          <p:nvPr/>
        </p:nvSpPr>
        <p:spPr>
          <a:xfrm>
            <a:off x="320040" y="1234440"/>
            <a:ext cx="1920240" cy="50292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dirty="0" sz="2800" lang="en-US">
                <a:solidFill>
                  <a:srgbClr val="000000"/>
                </a:solidFill>
              </a:rPr>
              <a:t>🔐</a:t>
            </a:r>
            <a:endParaRPr dirty="0" sz="2800" lang="en-US"/>
          </a:p>
        </p:txBody>
      </p:sp>
      <p:sp>
        <p:nvSpPr>
          <p:cNvPr id="1048613" name="Text 4"/>
          <p:cNvSpPr/>
          <p:nvPr/>
        </p:nvSpPr>
        <p:spPr>
          <a:xfrm>
            <a:off x="411480" y="1737360"/>
            <a:ext cx="1737360" cy="36576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200" lang="en-US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Login Admin</a:t>
            </a:r>
            <a:endParaRPr dirty="0" sz="1200" lang="en-US"/>
          </a:p>
        </p:txBody>
      </p:sp>
      <p:sp>
        <p:nvSpPr>
          <p:cNvPr id="1048614" name="Text 5"/>
          <p:cNvSpPr/>
          <p:nvPr/>
        </p:nvSpPr>
        <p:spPr>
          <a:xfrm>
            <a:off x="411480" y="2103120"/>
            <a:ext cx="1737360" cy="54864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dirty="0" sz="1000" lang="en-US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Masuk menggunakan email &amp; password</a:t>
            </a:r>
            <a:endParaRPr dirty="0" sz="1000" lang="en-US"/>
          </a:p>
        </p:txBody>
      </p:sp>
      <p:sp>
        <p:nvSpPr>
          <p:cNvPr id="1048615" name="Shape 6"/>
          <p:cNvSpPr/>
          <p:nvPr/>
        </p:nvSpPr>
        <p:spPr>
          <a:xfrm>
            <a:off x="2450592" y="1097280"/>
            <a:ext cx="192024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D1E8EC"/>
            </a:solidFill>
            <a:prstDash val="solid"/>
          </a:ln>
          <a:effectLst>
            <a:outerShdw algn="bl" blurRad="63500" dir="2700000" dist="25400" rotWithShape="0">
              <a:srgbClr val="000000">
                <a:alpha val="8000"/>
              </a:srgbClr>
            </a:outerShdw>
          </a:effectLst>
        </p:spPr>
      </p:sp>
      <p:sp>
        <p:nvSpPr>
          <p:cNvPr id="1048616" name="Text 7"/>
          <p:cNvSpPr/>
          <p:nvPr/>
        </p:nvSpPr>
        <p:spPr>
          <a:xfrm>
            <a:off x="2450592" y="1234440"/>
            <a:ext cx="1920240" cy="50292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dirty="0" sz="2800" lang="en-US">
                <a:solidFill>
                  <a:srgbClr val="000000"/>
                </a:solidFill>
              </a:rPr>
              <a:t>📊</a:t>
            </a:r>
            <a:endParaRPr dirty="0" sz="2800" lang="en-US"/>
          </a:p>
        </p:txBody>
      </p:sp>
      <p:sp>
        <p:nvSpPr>
          <p:cNvPr id="1048617" name="Text 8"/>
          <p:cNvSpPr/>
          <p:nvPr/>
        </p:nvSpPr>
        <p:spPr>
          <a:xfrm>
            <a:off x="2542032" y="1737360"/>
            <a:ext cx="1737360" cy="36576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200" lang="en-US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Dashboard</a:t>
            </a:r>
            <a:endParaRPr dirty="0" sz="1200" lang="en-US"/>
          </a:p>
        </p:txBody>
      </p:sp>
      <p:sp>
        <p:nvSpPr>
          <p:cNvPr id="1048618" name="Text 9"/>
          <p:cNvSpPr/>
          <p:nvPr/>
        </p:nvSpPr>
        <p:spPr>
          <a:xfrm>
            <a:off x="2542032" y="2103120"/>
            <a:ext cx="1737360" cy="54864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dirty="0" sz="1000" lang="en-US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Halaman utama dengan ringkasan info</a:t>
            </a:r>
            <a:endParaRPr dirty="0" sz="1000" lang="en-US"/>
          </a:p>
        </p:txBody>
      </p:sp>
      <p:sp>
        <p:nvSpPr>
          <p:cNvPr id="1048619" name="Shape 10"/>
          <p:cNvSpPr/>
          <p:nvPr/>
        </p:nvSpPr>
        <p:spPr>
          <a:xfrm>
            <a:off x="4581144" y="1097280"/>
            <a:ext cx="192024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D1E8EC"/>
            </a:solidFill>
            <a:prstDash val="solid"/>
          </a:ln>
          <a:effectLst>
            <a:outerShdw algn="bl" blurRad="63500" dir="2700000" dist="25400" rotWithShape="0">
              <a:srgbClr val="000000">
                <a:alpha val="8000"/>
              </a:srgbClr>
            </a:outerShdw>
          </a:effectLst>
        </p:spPr>
      </p:sp>
      <p:sp>
        <p:nvSpPr>
          <p:cNvPr id="1048620" name="Text 11"/>
          <p:cNvSpPr/>
          <p:nvPr/>
        </p:nvSpPr>
        <p:spPr>
          <a:xfrm>
            <a:off x="4581144" y="1234440"/>
            <a:ext cx="1920240" cy="50292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dirty="0" sz="2800" lang="en-US">
                <a:solidFill>
                  <a:srgbClr val="000000"/>
                </a:solidFill>
              </a:rPr>
              <a:t>👥</a:t>
            </a:r>
            <a:endParaRPr dirty="0" sz="2800" lang="en-US"/>
          </a:p>
        </p:txBody>
      </p:sp>
      <p:sp>
        <p:nvSpPr>
          <p:cNvPr id="1048621" name="Text 12"/>
          <p:cNvSpPr/>
          <p:nvPr/>
        </p:nvSpPr>
        <p:spPr>
          <a:xfrm>
            <a:off x="4672584" y="1737360"/>
            <a:ext cx="1737360" cy="36576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200" lang="en-US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Daftar Mahasiswa</a:t>
            </a:r>
            <a:endParaRPr dirty="0" sz="1200" lang="en-US"/>
          </a:p>
        </p:txBody>
      </p:sp>
      <p:sp>
        <p:nvSpPr>
          <p:cNvPr id="1048622" name="Text 13"/>
          <p:cNvSpPr/>
          <p:nvPr/>
        </p:nvSpPr>
        <p:spPr>
          <a:xfrm>
            <a:off x="4672584" y="2103120"/>
            <a:ext cx="1737360" cy="54864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dirty="0" sz="1000" lang="en-US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Tampilkan seluruh data mahasiswa</a:t>
            </a:r>
            <a:endParaRPr dirty="0" sz="1000" lang="en-US"/>
          </a:p>
        </p:txBody>
      </p:sp>
      <p:sp>
        <p:nvSpPr>
          <p:cNvPr id="1048623" name="Shape 14"/>
          <p:cNvSpPr/>
          <p:nvPr/>
        </p:nvSpPr>
        <p:spPr>
          <a:xfrm>
            <a:off x="6711696" y="1097280"/>
            <a:ext cx="192024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D1E8EC"/>
            </a:solidFill>
            <a:prstDash val="solid"/>
          </a:ln>
          <a:effectLst>
            <a:outerShdw algn="bl" blurRad="63500" dir="2700000" dist="25400" rotWithShape="0">
              <a:srgbClr val="000000">
                <a:alpha val="8000"/>
              </a:srgbClr>
            </a:outerShdw>
          </a:effectLst>
        </p:spPr>
      </p:sp>
      <p:sp>
        <p:nvSpPr>
          <p:cNvPr id="1048624" name="Text 15"/>
          <p:cNvSpPr/>
          <p:nvPr/>
        </p:nvSpPr>
        <p:spPr>
          <a:xfrm>
            <a:off x="6711696" y="1234440"/>
            <a:ext cx="1920240" cy="50292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dirty="0" sz="2800" lang="en-US">
                <a:solidFill>
                  <a:srgbClr val="000000"/>
                </a:solidFill>
              </a:rPr>
              <a:t>➕</a:t>
            </a:r>
            <a:endParaRPr dirty="0" sz="2800" lang="en-US"/>
          </a:p>
        </p:txBody>
      </p:sp>
      <p:sp>
        <p:nvSpPr>
          <p:cNvPr id="1048625" name="Text 16"/>
          <p:cNvSpPr/>
          <p:nvPr/>
        </p:nvSpPr>
        <p:spPr>
          <a:xfrm>
            <a:off x="6803136" y="1737360"/>
            <a:ext cx="1737360" cy="36576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200" lang="en-US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Tambah Data</a:t>
            </a:r>
            <a:endParaRPr dirty="0" sz="1200" lang="en-US"/>
          </a:p>
        </p:txBody>
      </p:sp>
      <p:sp>
        <p:nvSpPr>
          <p:cNvPr id="1048626" name="Text 17"/>
          <p:cNvSpPr/>
          <p:nvPr/>
        </p:nvSpPr>
        <p:spPr>
          <a:xfrm>
            <a:off x="6803136" y="2103120"/>
            <a:ext cx="1737360" cy="54864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dirty="0" sz="1000" lang="en-US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Tambah data mahasiswa baru</a:t>
            </a:r>
            <a:endParaRPr dirty="0" sz="1000" lang="en-US"/>
          </a:p>
        </p:txBody>
      </p:sp>
      <p:sp>
        <p:nvSpPr>
          <p:cNvPr id="1048627" name="Shape 18"/>
          <p:cNvSpPr/>
          <p:nvPr/>
        </p:nvSpPr>
        <p:spPr>
          <a:xfrm>
            <a:off x="320040" y="2971800"/>
            <a:ext cx="192024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D1E8EC"/>
            </a:solidFill>
            <a:prstDash val="solid"/>
          </a:ln>
          <a:effectLst>
            <a:outerShdw algn="bl" blurRad="63500" dir="2700000" dist="25400" rotWithShape="0">
              <a:srgbClr val="000000">
                <a:alpha val="8000"/>
              </a:srgbClr>
            </a:outerShdw>
          </a:effectLst>
        </p:spPr>
      </p:sp>
      <p:sp>
        <p:nvSpPr>
          <p:cNvPr id="1048628" name="Text 19"/>
          <p:cNvSpPr/>
          <p:nvPr/>
        </p:nvSpPr>
        <p:spPr>
          <a:xfrm>
            <a:off x="320040" y="3108960"/>
            <a:ext cx="1920240" cy="50292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dirty="0" sz="2800" lang="en-US">
                <a:solidFill>
                  <a:srgbClr val="000000"/>
                </a:solidFill>
              </a:rPr>
              <a:t>✏️</a:t>
            </a:r>
            <a:endParaRPr dirty="0" sz="2800" lang="en-US"/>
          </a:p>
        </p:txBody>
      </p:sp>
      <p:sp>
        <p:nvSpPr>
          <p:cNvPr id="1048629" name="Text 20"/>
          <p:cNvSpPr/>
          <p:nvPr/>
        </p:nvSpPr>
        <p:spPr>
          <a:xfrm>
            <a:off x="411480" y="3611880"/>
            <a:ext cx="1737360" cy="36576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200" lang="en-US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Edit &amp; Hapus</a:t>
            </a:r>
            <a:endParaRPr dirty="0" sz="1200" lang="en-US"/>
          </a:p>
        </p:txBody>
      </p:sp>
      <p:sp>
        <p:nvSpPr>
          <p:cNvPr id="1048630" name="Text 21"/>
          <p:cNvSpPr/>
          <p:nvPr/>
        </p:nvSpPr>
        <p:spPr>
          <a:xfrm>
            <a:off x="411480" y="3977640"/>
            <a:ext cx="1737360" cy="54864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dirty="0" sz="1000" lang="en-US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Perbarui atau hapus data mahasiswa</a:t>
            </a:r>
            <a:endParaRPr dirty="0" sz="1000" lang="en-US"/>
          </a:p>
        </p:txBody>
      </p:sp>
      <p:sp>
        <p:nvSpPr>
          <p:cNvPr id="1048631" name="Shape 22"/>
          <p:cNvSpPr/>
          <p:nvPr/>
        </p:nvSpPr>
        <p:spPr>
          <a:xfrm>
            <a:off x="2450592" y="2971800"/>
            <a:ext cx="192024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D1E8EC"/>
            </a:solidFill>
            <a:prstDash val="solid"/>
          </a:ln>
          <a:effectLst>
            <a:outerShdw algn="bl" blurRad="63500" dir="2700000" dist="25400" rotWithShape="0">
              <a:srgbClr val="000000">
                <a:alpha val="8000"/>
              </a:srgbClr>
            </a:outerShdw>
          </a:effectLst>
        </p:spPr>
      </p:sp>
      <p:sp>
        <p:nvSpPr>
          <p:cNvPr id="1048632" name="Text 23"/>
          <p:cNvSpPr/>
          <p:nvPr/>
        </p:nvSpPr>
        <p:spPr>
          <a:xfrm>
            <a:off x="2450592" y="3108960"/>
            <a:ext cx="1920240" cy="50292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dirty="0" sz="2800" lang="en-US">
                <a:solidFill>
                  <a:srgbClr val="000000"/>
                </a:solidFill>
              </a:rPr>
              <a:t>🔍</a:t>
            </a:r>
            <a:endParaRPr dirty="0" sz="2800" lang="en-US"/>
          </a:p>
        </p:txBody>
      </p:sp>
      <p:sp>
        <p:nvSpPr>
          <p:cNvPr id="1048633" name="Text 24"/>
          <p:cNvSpPr/>
          <p:nvPr/>
        </p:nvSpPr>
        <p:spPr>
          <a:xfrm>
            <a:off x="2542032" y="3611880"/>
            <a:ext cx="1737360" cy="36576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200" lang="en-US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Pencarian</a:t>
            </a:r>
            <a:endParaRPr dirty="0" sz="1200" lang="en-US"/>
          </a:p>
        </p:txBody>
      </p:sp>
      <p:sp>
        <p:nvSpPr>
          <p:cNvPr id="1048634" name="Text 25"/>
          <p:cNvSpPr/>
          <p:nvPr/>
        </p:nvSpPr>
        <p:spPr>
          <a:xfrm>
            <a:off x="2542032" y="3977640"/>
            <a:ext cx="1737360" cy="54864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dirty="0" sz="1000" lang="en-US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Cari berdasarkan nama atau NIM</a:t>
            </a:r>
            <a:endParaRPr dirty="0" sz="1000" lang="en-US"/>
          </a:p>
        </p:txBody>
      </p:sp>
      <p:sp>
        <p:nvSpPr>
          <p:cNvPr id="1048635" name="Shape 26"/>
          <p:cNvSpPr/>
          <p:nvPr/>
        </p:nvSpPr>
        <p:spPr>
          <a:xfrm>
            <a:off x="4581144" y="2971800"/>
            <a:ext cx="192024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D1E8EC"/>
            </a:solidFill>
            <a:prstDash val="solid"/>
          </a:ln>
          <a:effectLst>
            <a:outerShdw algn="bl" blurRad="63500" dir="2700000" dist="25400" rotWithShape="0">
              <a:srgbClr val="000000">
                <a:alpha val="8000"/>
              </a:srgbClr>
            </a:outerShdw>
          </a:effectLst>
        </p:spPr>
      </p:sp>
      <p:sp>
        <p:nvSpPr>
          <p:cNvPr id="1048636" name="Text 27"/>
          <p:cNvSpPr/>
          <p:nvPr/>
        </p:nvSpPr>
        <p:spPr>
          <a:xfrm>
            <a:off x="4581144" y="3108960"/>
            <a:ext cx="1920240" cy="50292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dirty="0" sz="2800" lang="en-US">
                <a:solidFill>
                  <a:srgbClr val="000000"/>
                </a:solidFill>
              </a:rPr>
              <a:t>📈</a:t>
            </a:r>
            <a:endParaRPr dirty="0" sz="2800" lang="en-US"/>
          </a:p>
        </p:txBody>
      </p:sp>
      <p:sp>
        <p:nvSpPr>
          <p:cNvPr id="1048637" name="Text 28"/>
          <p:cNvSpPr/>
          <p:nvPr/>
        </p:nvSpPr>
        <p:spPr>
          <a:xfrm>
            <a:off x="4672584" y="3611880"/>
            <a:ext cx="1737360" cy="36576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200" lang="en-US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Statistik</a:t>
            </a:r>
            <a:endParaRPr dirty="0" sz="1200" lang="en-US"/>
          </a:p>
        </p:txBody>
      </p:sp>
      <p:sp>
        <p:nvSpPr>
          <p:cNvPr id="1048638" name="Text 29"/>
          <p:cNvSpPr/>
          <p:nvPr/>
        </p:nvSpPr>
        <p:spPr>
          <a:xfrm>
            <a:off x="4672584" y="3977640"/>
            <a:ext cx="1737360" cy="54864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dirty="0" sz="1000" lang="en-US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Total mahasiswa &amp; per jurusan</a:t>
            </a:r>
            <a:endParaRPr dirty="0" sz="1000" lang="en-US"/>
          </a:p>
        </p:txBody>
      </p:sp>
      <p:sp>
        <p:nvSpPr>
          <p:cNvPr id="1048639" name="Shape 30"/>
          <p:cNvSpPr/>
          <p:nvPr/>
        </p:nvSpPr>
        <p:spPr>
          <a:xfrm>
            <a:off x="6711696" y="2971800"/>
            <a:ext cx="192024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D1E8EC"/>
            </a:solidFill>
            <a:prstDash val="solid"/>
          </a:ln>
          <a:effectLst>
            <a:outerShdw algn="bl" blurRad="63500" dir="2700000" dist="25400" rotWithShape="0">
              <a:srgbClr val="000000">
                <a:alpha val="8000"/>
              </a:srgbClr>
            </a:outerShdw>
          </a:effectLst>
        </p:spPr>
      </p:sp>
      <p:sp>
        <p:nvSpPr>
          <p:cNvPr id="1048640" name="Text 31"/>
          <p:cNvSpPr/>
          <p:nvPr/>
        </p:nvSpPr>
        <p:spPr>
          <a:xfrm>
            <a:off x="6711696" y="3108960"/>
            <a:ext cx="1920240" cy="50292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dirty="0" sz="2800" lang="en-US">
                <a:solidFill>
                  <a:srgbClr val="000000"/>
                </a:solidFill>
              </a:rPr>
              <a:t>🚪</a:t>
            </a:r>
            <a:endParaRPr dirty="0" sz="2800" lang="en-US"/>
          </a:p>
        </p:txBody>
      </p:sp>
      <p:sp>
        <p:nvSpPr>
          <p:cNvPr id="1048641" name="Text 32"/>
          <p:cNvSpPr/>
          <p:nvPr/>
        </p:nvSpPr>
        <p:spPr>
          <a:xfrm>
            <a:off x="6803136" y="3611880"/>
            <a:ext cx="1737360" cy="36576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200" lang="en-US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Logout</a:t>
            </a:r>
            <a:endParaRPr dirty="0" sz="1200" lang="en-US"/>
          </a:p>
        </p:txBody>
      </p:sp>
      <p:sp>
        <p:nvSpPr>
          <p:cNvPr id="1048642" name="Text 33"/>
          <p:cNvSpPr/>
          <p:nvPr/>
        </p:nvSpPr>
        <p:spPr>
          <a:xfrm>
            <a:off x="6803136" y="3977640"/>
            <a:ext cx="1737360" cy="54864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dirty="0" sz="1000" lang="en-US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Keluar dari sistem dengan aman</a:t>
            </a:r>
            <a:endParaRPr dirty="0" sz="1000"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2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6" name="Shape 0"/>
          <p:cNvSpPr/>
          <p:nvPr/>
        </p:nvSpPr>
        <p:spPr>
          <a:xfrm>
            <a:off x="0" y="0"/>
            <a:ext cx="9144000" cy="914400"/>
          </a:xfrm>
          <a:prstGeom prst="rect"/>
          <a:solidFill>
            <a:srgbClr val="0D1B40"/>
          </a:solidFill>
          <a:ln w="12700">
            <a:solidFill>
              <a:srgbClr val="0D1B40"/>
            </a:solidFill>
            <a:prstDash val="solid"/>
          </a:ln>
        </p:spPr>
      </p:sp>
      <p:sp>
        <p:nvSpPr>
          <p:cNvPr id="1048647" name="Text 1"/>
          <p:cNvSpPr/>
          <p:nvPr/>
        </p:nvSpPr>
        <p:spPr>
          <a:xfrm>
            <a:off x="457200" y="0"/>
            <a:ext cx="8229600" cy="91440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2400" lang="en-US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KEBUTUHAN NON-FUNGSIONAL</a:t>
            </a:r>
            <a:endParaRPr dirty="0" sz="2400" lang="en-US"/>
          </a:p>
        </p:txBody>
      </p:sp>
      <p:sp>
        <p:nvSpPr>
          <p:cNvPr id="1048648" name="Shape 2"/>
          <p:cNvSpPr/>
          <p:nvPr/>
        </p:nvSpPr>
        <p:spPr>
          <a:xfrm>
            <a:off x="365760" y="1051560"/>
            <a:ext cx="3931920" cy="3474720"/>
          </a:xfrm>
          <a:prstGeom prst="roundRect">
            <a:avLst>
              <a:gd name="adj" fmla="val 2632"/>
            </a:avLst>
          </a:prstGeom>
          <a:solidFill>
            <a:srgbClr val="EFF6F8"/>
          </a:solidFill>
          <a:ln w="19050">
            <a:solidFill>
              <a:srgbClr val="028090"/>
            </a:solidFill>
            <a:prstDash val="solid"/>
          </a:ln>
        </p:spPr>
      </p:sp>
      <p:sp>
        <p:nvSpPr>
          <p:cNvPr id="1048649" name="Text 3"/>
          <p:cNvSpPr/>
          <p:nvPr/>
        </p:nvSpPr>
        <p:spPr>
          <a:xfrm>
            <a:off x="548640" y="1143000"/>
            <a:ext cx="3566160" cy="45720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1500" lang="en-US">
                <a:solidFill>
                  <a:srgbClr val="02809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💻  PERANGKAT KERAS</a:t>
            </a:r>
            <a:endParaRPr dirty="0" sz="1500" lang="en-US"/>
          </a:p>
        </p:txBody>
      </p:sp>
      <p:sp>
        <p:nvSpPr>
          <p:cNvPr id="1048650" name="Shape 4"/>
          <p:cNvSpPr/>
          <p:nvPr/>
        </p:nvSpPr>
        <p:spPr>
          <a:xfrm>
            <a:off x="502920" y="1691640"/>
            <a:ext cx="3566160" cy="713232"/>
          </a:xfrm>
          <a:prstGeom prst="rect"/>
          <a:solidFill>
            <a:srgbClr val="FFFFFF"/>
          </a:solidFill>
          <a:ln w="12700">
            <a:solidFill>
              <a:srgbClr val="D1E8EC"/>
            </a:solidFill>
            <a:prstDash val="solid"/>
          </a:ln>
        </p:spPr>
      </p:sp>
      <p:sp>
        <p:nvSpPr>
          <p:cNvPr id="1048651" name="Text 5"/>
          <p:cNvSpPr/>
          <p:nvPr/>
        </p:nvSpPr>
        <p:spPr>
          <a:xfrm>
            <a:off x="594360" y="1737360"/>
            <a:ext cx="1371600" cy="32004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100" lang="en-US">
                <a:solidFill>
                  <a:srgbClr val="02809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Processor</a:t>
            </a:r>
            <a:endParaRPr dirty="0" sz="1100" lang="en-US"/>
          </a:p>
        </p:txBody>
      </p:sp>
      <p:sp>
        <p:nvSpPr>
          <p:cNvPr id="1048652" name="Text 6"/>
          <p:cNvSpPr/>
          <p:nvPr/>
        </p:nvSpPr>
        <p:spPr>
          <a:xfrm>
            <a:off x="594360" y="2057400"/>
            <a:ext cx="3383280" cy="27432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100" lang="en-US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Intel Core i3 / AMD Ryzen 3+</a:t>
            </a:r>
            <a:endParaRPr dirty="0" sz="1100" lang="en-US"/>
          </a:p>
        </p:txBody>
      </p:sp>
      <p:sp>
        <p:nvSpPr>
          <p:cNvPr id="1048653" name="Shape 7"/>
          <p:cNvSpPr/>
          <p:nvPr/>
        </p:nvSpPr>
        <p:spPr>
          <a:xfrm>
            <a:off x="502920" y="2514600"/>
            <a:ext cx="3566160" cy="713232"/>
          </a:xfrm>
          <a:prstGeom prst="rect"/>
          <a:solidFill>
            <a:srgbClr val="FFFFFF"/>
          </a:solidFill>
          <a:ln w="12700">
            <a:solidFill>
              <a:srgbClr val="D1E8EC"/>
            </a:solidFill>
            <a:prstDash val="solid"/>
          </a:ln>
        </p:spPr>
      </p:sp>
      <p:sp>
        <p:nvSpPr>
          <p:cNvPr id="1048654" name="Text 8"/>
          <p:cNvSpPr/>
          <p:nvPr/>
        </p:nvSpPr>
        <p:spPr>
          <a:xfrm>
            <a:off x="594360" y="2560320"/>
            <a:ext cx="1371600" cy="32004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100" lang="en-US">
                <a:solidFill>
                  <a:srgbClr val="02809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RAM</a:t>
            </a:r>
            <a:endParaRPr dirty="0" sz="1100" lang="en-US"/>
          </a:p>
        </p:txBody>
      </p:sp>
      <p:sp>
        <p:nvSpPr>
          <p:cNvPr id="1048655" name="Text 9"/>
          <p:cNvSpPr/>
          <p:nvPr/>
        </p:nvSpPr>
        <p:spPr>
          <a:xfrm>
            <a:off x="594360" y="2880360"/>
            <a:ext cx="3383280" cy="27432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100" lang="en-US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Minimal 4 GB</a:t>
            </a:r>
            <a:endParaRPr dirty="0" sz="1100" lang="en-US"/>
          </a:p>
        </p:txBody>
      </p:sp>
      <p:sp>
        <p:nvSpPr>
          <p:cNvPr id="1048656" name="Shape 10"/>
          <p:cNvSpPr/>
          <p:nvPr/>
        </p:nvSpPr>
        <p:spPr>
          <a:xfrm>
            <a:off x="502920" y="3337560"/>
            <a:ext cx="3566160" cy="713232"/>
          </a:xfrm>
          <a:prstGeom prst="rect"/>
          <a:solidFill>
            <a:srgbClr val="FFFFFF"/>
          </a:solidFill>
          <a:ln w="12700">
            <a:solidFill>
              <a:srgbClr val="D1E8EC"/>
            </a:solidFill>
            <a:prstDash val="solid"/>
          </a:ln>
        </p:spPr>
      </p:sp>
      <p:sp>
        <p:nvSpPr>
          <p:cNvPr id="1048657" name="Text 11"/>
          <p:cNvSpPr/>
          <p:nvPr/>
        </p:nvSpPr>
        <p:spPr>
          <a:xfrm>
            <a:off x="594360" y="3383280"/>
            <a:ext cx="1371600" cy="32004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100" lang="en-US">
                <a:solidFill>
                  <a:srgbClr val="02809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Penyimpanan</a:t>
            </a:r>
            <a:endParaRPr dirty="0" sz="1100" lang="en-US"/>
          </a:p>
        </p:txBody>
      </p:sp>
      <p:sp>
        <p:nvSpPr>
          <p:cNvPr id="1048658" name="Text 12"/>
          <p:cNvSpPr/>
          <p:nvPr/>
        </p:nvSpPr>
        <p:spPr>
          <a:xfrm>
            <a:off x="594360" y="3703320"/>
            <a:ext cx="3383280" cy="27432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100" lang="en-US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Minimal 10 GB tersedia</a:t>
            </a:r>
            <a:endParaRPr dirty="0" sz="1100" lang="en-US"/>
          </a:p>
        </p:txBody>
      </p:sp>
      <p:sp>
        <p:nvSpPr>
          <p:cNvPr id="1048659" name="Shape 13"/>
          <p:cNvSpPr/>
          <p:nvPr/>
        </p:nvSpPr>
        <p:spPr>
          <a:xfrm>
            <a:off x="4663440" y="1051560"/>
            <a:ext cx="4114800" cy="3474720"/>
          </a:xfrm>
          <a:prstGeom prst="roundRect">
            <a:avLst>
              <a:gd name="adj" fmla="val 2632"/>
            </a:avLst>
          </a:prstGeom>
          <a:solidFill>
            <a:srgbClr val="EFF6F8"/>
          </a:solidFill>
          <a:ln w="19050">
            <a:solidFill>
              <a:srgbClr val="0D1B40"/>
            </a:solidFill>
            <a:prstDash val="solid"/>
          </a:ln>
        </p:spPr>
      </p:sp>
      <p:sp>
        <p:nvSpPr>
          <p:cNvPr id="1048660" name="Text 14"/>
          <p:cNvSpPr/>
          <p:nvPr/>
        </p:nvSpPr>
        <p:spPr>
          <a:xfrm>
            <a:off x="4846320" y="1143000"/>
            <a:ext cx="3749040" cy="45720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1500" lang="en-US">
                <a:solidFill>
                  <a:srgbClr val="0D1B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🛠  PERANGKAT LUNAK</a:t>
            </a:r>
            <a:endParaRPr dirty="0" sz="1500" lang="en-US"/>
          </a:p>
        </p:txBody>
      </p:sp>
      <p:sp>
        <p:nvSpPr>
          <p:cNvPr id="1048661" name="Text 15"/>
          <p:cNvSpPr/>
          <p:nvPr/>
        </p:nvSpPr>
        <p:spPr>
          <a:xfrm>
            <a:off x="4800600" y="1691640"/>
            <a:ext cx="1645920" cy="32004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100" lang="en-US">
                <a:solidFill>
                  <a:srgbClr val="0D1B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▸ Laravel 12</a:t>
            </a:r>
            <a:endParaRPr dirty="0" sz="1100" lang="en-US"/>
          </a:p>
        </p:txBody>
      </p:sp>
      <p:sp>
        <p:nvSpPr>
          <p:cNvPr id="1048662" name="Text 16"/>
          <p:cNvSpPr/>
          <p:nvPr/>
        </p:nvSpPr>
        <p:spPr>
          <a:xfrm>
            <a:off x="6492240" y="1691640"/>
            <a:ext cx="2103120" cy="32004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100" lang="en-US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Framework backend PHP</a:t>
            </a:r>
            <a:endParaRPr dirty="0" sz="1100" lang="en-US"/>
          </a:p>
        </p:txBody>
      </p:sp>
      <p:sp>
        <p:nvSpPr>
          <p:cNvPr id="1048663" name="Text 17"/>
          <p:cNvSpPr/>
          <p:nvPr/>
        </p:nvSpPr>
        <p:spPr>
          <a:xfrm>
            <a:off x="4800600" y="2258568"/>
            <a:ext cx="1645920" cy="32004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100" lang="en-US">
                <a:solidFill>
                  <a:srgbClr val="0D1B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▸ PHP 8.2</a:t>
            </a:r>
            <a:endParaRPr dirty="0" sz="1100" lang="en-US"/>
          </a:p>
        </p:txBody>
      </p:sp>
      <p:sp>
        <p:nvSpPr>
          <p:cNvPr id="1048664" name="Text 18"/>
          <p:cNvSpPr/>
          <p:nvPr/>
        </p:nvSpPr>
        <p:spPr>
          <a:xfrm>
            <a:off x="6492240" y="2258568"/>
            <a:ext cx="2103120" cy="32004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100" lang="en-US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Bahasa pemrograman backend</a:t>
            </a:r>
            <a:endParaRPr dirty="0" sz="1100" lang="en-US"/>
          </a:p>
        </p:txBody>
      </p:sp>
      <p:sp>
        <p:nvSpPr>
          <p:cNvPr id="1048665" name="Text 19"/>
          <p:cNvSpPr/>
          <p:nvPr/>
        </p:nvSpPr>
        <p:spPr>
          <a:xfrm>
            <a:off x="4800600" y="2825496"/>
            <a:ext cx="1645920" cy="32004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100" lang="en-US">
                <a:solidFill>
                  <a:srgbClr val="0D1B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▸ MySQL 8.x</a:t>
            </a:r>
            <a:endParaRPr dirty="0" sz="1100" lang="en-US"/>
          </a:p>
        </p:txBody>
      </p:sp>
      <p:sp>
        <p:nvSpPr>
          <p:cNvPr id="1048666" name="Text 20"/>
          <p:cNvSpPr/>
          <p:nvPr/>
        </p:nvSpPr>
        <p:spPr>
          <a:xfrm>
            <a:off x="6492240" y="2825496"/>
            <a:ext cx="2103120" cy="32004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100" lang="en-US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Database relasional</a:t>
            </a:r>
            <a:endParaRPr dirty="0" sz="1100" lang="en-US"/>
          </a:p>
        </p:txBody>
      </p:sp>
      <p:sp>
        <p:nvSpPr>
          <p:cNvPr id="1048667" name="Text 21"/>
          <p:cNvSpPr/>
          <p:nvPr/>
        </p:nvSpPr>
        <p:spPr>
          <a:xfrm>
            <a:off x="4800600" y="3392424"/>
            <a:ext cx="1645920" cy="32004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100" lang="en-US">
                <a:solidFill>
                  <a:srgbClr val="0D1B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▸ Bootstrap 5</a:t>
            </a:r>
            <a:endParaRPr dirty="0" sz="1100" lang="en-US"/>
          </a:p>
        </p:txBody>
      </p:sp>
      <p:sp>
        <p:nvSpPr>
          <p:cNvPr id="1048668" name="Text 22"/>
          <p:cNvSpPr/>
          <p:nvPr/>
        </p:nvSpPr>
        <p:spPr>
          <a:xfrm>
            <a:off x="6492240" y="3392424"/>
            <a:ext cx="2103120" cy="32004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100" lang="en-US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Framework CSS responsif</a:t>
            </a:r>
            <a:endParaRPr dirty="0" sz="1100" lang="en-US"/>
          </a:p>
        </p:txBody>
      </p:sp>
      <p:sp>
        <p:nvSpPr>
          <p:cNvPr id="1048669" name="Text 23"/>
          <p:cNvSpPr/>
          <p:nvPr/>
        </p:nvSpPr>
        <p:spPr>
          <a:xfrm>
            <a:off x="4800600" y="3959352"/>
            <a:ext cx="1645920" cy="32004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100" lang="en-US">
                <a:solidFill>
                  <a:srgbClr val="0D1B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▸ XAMPP</a:t>
            </a:r>
            <a:endParaRPr dirty="0" sz="1100" lang="en-US"/>
          </a:p>
        </p:txBody>
      </p:sp>
      <p:sp>
        <p:nvSpPr>
          <p:cNvPr id="1048670" name="Text 24"/>
          <p:cNvSpPr/>
          <p:nvPr/>
        </p:nvSpPr>
        <p:spPr>
          <a:xfrm>
            <a:off x="6492240" y="3959352"/>
            <a:ext cx="2103120" cy="32004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100" lang="en-US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Server lokal (Apache+PHP+MySQL)</a:t>
            </a:r>
            <a:endParaRPr dirty="0" sz="1100" lang="en-US"/>
          </a:p>
        </p:txBody>
      </p:sp>
      <p:sp>
        <p:nvSpPr>
          <p:cNvPr id="1048671" name="Text 25"/>
          <p:cNvSpPr/>
          <p:nvPr/>
        </p:nvSpPr>
        <p:spPr>
          <a:xfrm>
            <a:off x="365760" y="4709160"/>
            <a:ext cx="8412480" cy="27432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dirty="0" sz="1000" lang="en-US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OS: Windows 10/11  ·  Editor: VS Code  ·  Browser: Google Chrome</a:t>
            </a:r>
            <a:endParaRPr dirty="0" sz="1000"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6F8"/>
        </a:solidFill>
        <a:effectLst/>
      </p:bgPr>
    </p:bg>
    <p:spTree>
      <p:nvGrpSpPr>
        <p:cNvPr id="3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5" name="Shape 0"/>
          <p:cNvSpPr/>
          <p:nvPr/>
        </p:nvSpPr>
        <p:spPr>
          <a:xfrm>
            <a:off x="0" y="0"/>
            <a:ext cx="9144000" cy="914400"/>
          </a:xfrm>
          <a:prstGeom prst="rect"/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048676" name="Text 1"/>
          <p:cNvSpPr/>
          <p:nvPr/>
        </p:nvSpPr>
        <p:spPr>
          <a:xfrm>
            <a:off x="457200" y="0"/>
            <a:ext cx="8229600" cy="91440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2200" lang="en-US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DESAIN SISTEM &amp; ALUR KERJA</a:t>
            </a:r>
            <a:endParaRPr dirty="0" sz="2200" lang="en-US"/>
          </a:p>
        </p:txBody>
      </p:sp>
      <p:sp>
        <p:nvSpPr>
          <p:cNvPr id="1048677" name="Text 2"/>
          <p:cNvSpPr/>
          <p:nvPr/>
        </p:nvSpPr>
        <p:spPr>
          <a:xfrm>
            <a:off x="365760" y="1005840"/>
            <a:ext cx="8229600" cy="32004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1400" lang="en-US">
                <a:solidFill>
                  <a:srgbClr val="0D1B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Arsitektur MVC (Model-View-Controller)</a:t>
            </a:r>
            <a:endParaRPr dirty="0" sz="1400" lang="en-US"/>
          </a:p>
        </p:txBody>
      </p:sp>
      <p:sp>
        <p:nvSpPr>
          <p:cNvPr id="1048678" name="Shape 3"/>
          <p:cNvSpPr/>
          <p:nvPr/>
        </p:nvSpPr>
        <p:spPr>
          <a:xfrm>
            <a:off x="365760" y="1417320"/>
            <a:ext cx="2468880" cy="1280160"/>
          </a:xfrm>
          <a:prstGeom prst="roundRect">
            <a:avLst>
              <a:gd name="adj" fmla="val 7143"/>
            </a:avLst>
          </a:prstGeom>
          <a:solidFill>
            <a:srgbClr val="0D1B40"/>
          </a:solidFill>
          <a:ln w="12700">
            <a:solidFill>
              <a:srgbClr val="0D1B40"/>
            </a:solidFill>
            <a:prstDash val="solid"/>
          </a:ln>
        </p:spPr>
      </p:sp>
      <p:sp>
        <p:nvSpPr>
          <p:cNvPr id="1048679" name="Text 4"/>
          <p:cNvSpPr/>
          <p:nvPr/>
        </p:nvSpPr>
        <p:spPr>
          <a:xfrm>
            <a:off x="365760" y="1463040"/>
            <a:ext cx="2468880" cy="41148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b="1" dirty="0" sz="1400" lang="en-US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MODEL</a:t>
            </a:r>
            <a:endParaRPr dirty="0" sz="1400" lang="en-US"/>
          </a:p>
        </p:txBody>
      </p:sp>
      <p:sp>
        <p:nvSpPr>
          <p:cNvPr id="1048680" name="Text 5"/>
          <p:cNvSpPr/>
          <p:nvPr/>
        </p:nvSpPr>
        <p:spPr>
          <a:xfrm>
            <a:off x="457200" y="1874520"/>
            <a:ext cx="2286000" cy="73152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dirty="0" sz="1100" lang="en-US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Eloquent ORM</a:t>
            </a:r>
            <a:endParaRPr dirty="0" sz="1100" lang="en-US"/>
          </a:p>
          <a:p>
            <a:pPr algn="ctr" indent="0" marL="0">
              <a:buNone/>
            </a:pPr>
            <a:r>
              <a:rPr dirty="0" sz="1100" lang="en-US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users &amp; mahasiswa</a:t>
            </a:r>
            <a:endParaRPr dirty="0" sz="1100" lang="en-US"/>
          </a:p>
        </p:txBody>
      </p:sp>
      <p:sp>
        <p:nvSpPr>
          <p:cNvPr id="1048681" name="Text 6"/>
          <p:cNvSpPr/>
          <p:nvPr/>
        </p:nvSpPr>
        <p:spPr>
          <a:xfrm>
            <a:off x="2834640" y="1691640"/>
            <a:ext cx="365760" cy="54864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dirty="0" sz="2200" lang="en-US">
                <a:solidFill>
                  <a:srgbClr val="0D1B40"/>
                </a:solidFill>
              </a:rPr>
              <a:t>→</a:t>
            </a:r>
            <a:endParaRPr dirty="0" sz="2200" lang="en-US"/>
          </a:p>
        </p:txBody>
      </p:sp>
      <p:sp>
        <p:nvSpPr>
          <p:cNvPr id="1048682" name="Shape 7"/>
          <p:cNvSpPr/>
          <p:nvPr/>
        </p:nvSpPr>
        <p:spPr>
          <a:xfrm>
            <a:off x="3200400" y="1417320"/>
            <a:ext cx="2468880" cy="1280160"/>
          </a:xfrm>
          <a:prstGeom prst="roundRect">
            <a:avLst>
              <a:gd name="adj" fmla="val 7143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048683" name="Text 8"/>
          <p:cNvSpPr/>
          <p:nvPr/>
        </p:nvSpPr>
        <p:spPr>
          <a:xfrm>
            <a:off x="3200400" y="1463040"/>
            <a:ext cx="2468880" cy="41148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b="1" dirty="0" sz="1400" lang="en-US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VIEW</a:t>
            </a:r>
            <a:endParaRPr dirty="0" sz="1400" lang="en-US"/>
          </a:p>
        </p:txBody>
      </p:sp>
      <p:sp>
        <p:nvSpPr>
          <p:cNvPr id="1048684" name="Text 9"/>
          <p:cNvSpPr/>
          <p:nvPr/>
        </p:nvSpPr>
        <p:spPr>
          <a:xfrm>
            <a:off x="3291840" y="1874520"/>
            <a:ext cx="2286000" cy="73152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dirty="0" sz="1100" lang="en-US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Blade Templates</a:t>
            </a:r>
            <a:endParaRPr dirty="0" sz="1100" lang="en-US"/>
          </a:p>
          <a:p>
            <a:pPr algn="ctr" indent="0" marL="0">
              <a:buNone/>
            </a:pPr>
            <a:r>
              <a:rPr dirty="0" sz="1100" lang="en-US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Antarmuka Admin</a:t>
            </a:r>
            <a:endParaRPr dirty="0" sz="1100" lang="en-US"/>
          </a:p>
        </p:txBody>
      </p:sp>
      <p:sp>
        <p:nvSpPr>
          <p:cNvPr id="1048685" name="Text 10"/>
          <p:cNvSpPr/>
          <p:nvPr/>
        </p:nvSpPr>
        <p:spPr>
          <a:xfrm>
            <a:off x="5669280" y="1691640"/>
            <a:ext cx="365760" cy="54864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dirty="0" sz="2200" lang="en-US">
                <a:solidFill>
                  <a:srgbClr val="0D1B40"/>
                </a:solidFill>
              </a:rPr>
              <a:t>→</a:t>
            </a:r>
            <a:endParaRPr dirty="0" sz="2200" lang="en-US"/>
          </a:p>
        </p:txBody>
      </p:sp>
      <p:sp>
        <p:nvSpPr>
          <p:cNvPr id="1048686" name="Shape 11"/>
          <p:cNvSpPr/>
          <p:nvPr/>
        </p:nvSpPr>
        <p:spPr>
          <a:xfrm>
            <a:off x="6035040" y="1417320"/>
            <a:ext cx="2468880" cy="1280160"/>
          </a:xfrm>
          <a:prstGeom prst="roundRect">
            <a:avLst>
              <a:gd name="adj" fmla="val 7143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048687" name="Text 12"/>
          <p:cNvSpPr/>
          <p:nvPr/>
        </p:nvSpPr>
        <p:spPr>
          <a:xfrm>
            <a:off x="6035040" y="1463040"/>
            <a:ext cx="2468880" cy="41148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b="1" dirty="0" sz="1400" lang="en-US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CONTROLLER</a:t>
            </a:r>
            <a:endParaRPr dirty="0" sz="1400" lang="en-US"/>
          </a:p>
        </p:txBody>
      </p:sp>
      <p:sp>
        <p:nvSpPr>
          <p:cNvPr id="1048688" name="Text 13"/>
          <p:cNvSpPr/>
          <p:nvPr/>
        </p:nvSpPr>
        <p:spPr>
          <a:xfrm>
            <a:off x="6126480" y="1874520"/>
            <a:ext cx="2286000" cy="73152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dirty="0" sz="1100" lang="en-US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Logika</a:t>
            </a:r>
            <a:endParaRPr dirty="0" sz="1100" lang="en-US"/>
          </a:p>
          <a:p>
            <a:pPr algn="ctr" indent="0" marL="0">
              <a:buNone/>
            </a:pPr>
            <a:r>
              <a:rPr dirty="0" sz="1100" lang="en-US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Routing &amp; Request</a:t>
            </a:r>
            <a:endParaRPr dirty="0" sz="1100" lang="en-US"/>
          </a:p>
        </p:txBody>
      </p:sp>
      <p:sp>
        <p:nvSpPr>
          <p:cNvPr id="1048689" name="Text 14"/>
          <p:cNvSpPr/>
          <p:nvPr/>
        </p:nvSpPr>
        <p:spPr>
          <a:xfrm>
            <a:off x="365760" y="2834640"/>
            <a:ext cx="8229600" cy="32004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1400" lang="en-US">
                <a:solidFill>
                  <a:srgbClr val="0D1B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Alur Sistem (7 Langkah)</a:t>
            </a:r>
            <a:endParaRPr dirty="0" sz="1400" lang="en-US"/>
          </a:p>
        </p:txBody>
      </p:sp>
      <p:sp>
        <p:nvSpPr>
          <p:cNvPr id="1048690" name="Shape 15"/>
          <p:cNvSpPr/>
          <p:nvPr/>
        </p:nvSpPr>
        <p:spPr>
          <a:xfrm>
            <a:off x="365760" y="3200400"/>
            <a:ext cx="1051560" cy="685800"/>
          </a:xfrm>
          <a:prstGeom prst="roundRect">
            <a:avLst>
              <a:gd name="adj" fmla="val 10667"/>
            </a:avLst>
          </a:prstGeom>
          <a:solidFill>
            <a:srgbClr val="0D1B40"/>
          </a:solidFill>
          <a:ln w="12700">
            <a:solidFill>
              <a:srgbClr val="0D1B40"/>
            </a:solidFill>
            <a:prstDash val="solid"/>
          </a:ln>
        </p:spPr>
      </p:sp>
      <p:sp>
        <p:nvSpPr>
          <p:cNvPr id="1048691" name="Text 16"/>
          <p:cNvSpPr/>
          <p:nvPr/>
        </p:nvSpPr>
        <p:spPr>
          <a:xfrm>
            <a:off x="365760" y="3200400"/>
            <a:ext cx="1051560" cy="27432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b="1" dirty="0" sz="1000" lang="en-US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dirty="0" sz="1000" lang="en-US"/>
          </a:p>
        </p:txBody>
      </p:sp>
      <p:sp>
        <p:nvSpPr>
          <p:cNvPr id="1048692" name="Text 17"/>
          <p:cNvSpPr/>
          <p:nvPr/>
        </p:nvSpPr>
        <p:spPr>
          <a:xfrm>
            <a:off x="365760" y="3456432"/>
            <a:ext cx="1051560" cy="41148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dirty="0" sz="1000" lang="en-US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Login</a:t>
            </a:r>
            <a:endParaRPr dirty="0" sz="1000" lang="en-US"/>
          </a:p>
        </p:txBody>
      </p:sp>
      <p:sp>
        <p:nvSpPr>
          <p:cNvPr id="1048693" name="Text 18"/>
          <p:cNvSpPr/>
          <p:nvPr/>
        </p:nvSpPr>
        <p:spPr>
          <a:xfrm>
            <a:off x="1417320" y="3291840"/>
            <a:ext cx="155448" cy="50292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dirty="0" sz="1000" lang="en-US">
                <a:solidFill>
                  <a:srgbClr val="0D1B40"/>
                </a:solidFill>
              </a:rPr>
              <a:t>▶</a:t>
            </a:r>
            <a:endParaRPr dirty="0" sz="1000" lang="en-US"/>
          </a:p>
        </p:txBody>
      </p:sp>
      <p:sp>
        <p:nvSpPr>
          <p:cNvPr id="1048694" name="Shape 19"/>
          <p:cNvSpPr/>
          <p:nvPr/>
        </p:nvSpPr>
        <p:spPr>
          <a:xfrm>
            <a:off x="1572768" y="3200400"/>
            <a:ext cx="1051560" cy="685800"/>
          </a:xfrm>
          <a:prstGeom prst="roundRect">
            <a:avLst>
              <a:gd name="adj" fmla="val 10667"/>
            </a:avLst>
          </a:prstGeom>
          <a:solidFill>
            <a:srgbClr val="028090"/>
          </a:solidFill>
          <a:ln w="12700">
            <a:solidFill>
              <a:srgbClr val="0D1B40"/>
            </a:solidFill>
            <a:prstDash val="solid"/>
          </a:ln>
        </p:spPr>
      </p:sp>
      <p:sp>
        <p:nvSpPr>
          <p:cNvPr id="1048695" name="Text 20"/>
          <p:cNvSpPr/>
          <p:nvPr/>
        </p:nvSpPr>
        <p:spPr>
          <a:xfrm>
            <a:off x="1572768" y="3200400"/>
            <a:ext cx="1051560" cy="27432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b="1" dirty="0" sz="1000" lang="en-US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dirty="0" sz="1000" lang="en-US"/>
          </a:p>
        </p:txBody>
      </p:sp>
      <p:sp>
        <p:nvSpPr>
          <p:cNvPr id="1048696" name="Text 21"/>
          <p:cNvSpPr/>
          <p:nvPr/>
        </p:nvSpPr>
        <p:spPr>
          <a:xfrm>
            <a:off x="1572768" y="3456432"/>
            <a:ext cx="1051560" cy="41148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dirty="0" sz="1000" lang="en-US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Verifikasi</a:t>
            </a:r>
            <a:endParaRPr dirty="0" sz="1000" lang="en-US"/>
          </a:p>
        </p:txBody>
      </p:sp>
      <p:sp>
        <p:nvSpPr>
          <p:cNvPr id="1048697" name="Text 22"/>
          <p:cNvSpPr/>
          <p:nvPr/>
        </p:nvSpPr>
        <p:spPr>
          <a:xfrm>
            <a:off x="2624328" y="3291840"/>
            <a:ext cx="155448" cy="50292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dirty="0" sz="1000" lang="en-US">
                <a:solidFill>
                  <a:srgbClr val="0D1B40"/>
                </a:solidFill>
              </a:rPr>
              <a:t>▶</a:t>
            </a:r>
            <a:endParaRPr dirty="0" sz="1000" lang="en-US"/>
          </a:p>
        </p:txBody>
      </p:sp>
      <p:sp>
        <p:nvSpPr>
          <p:cNvPr id="1048698" name="Shape 23"/>
          <p:cNvSpPr/>
          <p:nvPr/>
        </p:nvSpPr>
        <p:spPr>
          <a:xfrm>
            <a:off x="2779776" y="3200400"/>
            <a:ext cx="1051560" cy="685800"/>
          </a:xfrm>
          <a:prstGeom prst="roundRect">
            <a:avLst>
              <a:gd name="adj" fmla="val 10667"/>
            </a:avLst>
          </a:prstGeom>
          <a:solidFill>
            <a:srgbClr val="028090"/>
          </a:solidFill>
          <a:ln w="12700">
            <a:solidFill>
              <a:srgbClr val="0D1B40"/>
            </a:solidFill>
            <a:prstDash val="solid"/>
          </a:ln>
        </p:spPr>
      </p:sp>
      <p:sp>
        <p:nvSpPr>
          <p:cNvPr id="1048699" name="Text 24"/>
          <p:cNvSpPr/>
          <p:nvPr/>
        </p:nvSpPr>
        <p:spPr>
          <a:xfrm>
            <a:off x="2779776" y="3200400"/>
            <a:ext cx="1051560" cy="27432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b="1" dirty="0" sz="1000" lang="en-US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dirty="0" sz="1000" lang="en-US"/>
          </a:p>
        </p:txBody>
      </p:sp>
      <p:sp>
        <p:nvSpPr>
          <p:cNvPr id="1048700" name="Text 25"/>
          <p:cNvSpPr/>
          <p:nvPr/>
        </p:nvSpPr>
        <p:spPr>
          <a:xfrm>
            <a:off x="2779776" y="3456432"/>
            <a:ext cx="1051560" cy="41148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dirty="0" sz="1000" lang="en-US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Dashboard</a:t>
            </a:r>
            <a:endParaRPr dirty="0" sz="1000" lang="en-US"/>
          </a:p>
        </p:txBody>
      </p:sp>
      <p:sp>
        <p:nvSpPr>
          <p:cNvPr id="1048701" name="Text 26"/>
          <p:cNvSpPr/>
          <p:nvPr/>
        </p:nvSpPr>
        <p:spPr>
          <a:xfrm>
            <a:off x="3831336" y="3291840"/>
            <a:ext cx="155448" cy="50292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dirty="0" sz="1000" lang="en-US">
                <a:solidFill>
                  <a:srgbClr val="0D1B40"/>
                </a:solidFill>
              </a:rPr>
              <a:t>▶</a:t>
            </a:r>
            <a:endParaRPr dirty="0" sz="1000" lang="en-US"/>
          </a:p>
        </p:txBody>
      </p:sp>
      <p:sp>
        <p:nvSpPr>
          <p:cNvPr id="1048702" name="Shape 27"/>
          <p:cNvSpPr/>
          <p:nvPr/>
        </p:nvSpPr>
        <p:spPr>
          <a:xfrm>
            <a:off x="3986784" y="3200400"/>
            <a:ext cx="1051560" cy="685800"/>
          </a:xfrm>
          <a:prstGeom prst="roundRect">
            <a:avLst>
              <a:gd name="adj" fmla="val 10667"/>
            </a:avLst>
          </a:prstGeom>
          <a:solidFill>
            <a:srgbClr val="028090"/>
          </a:solidFill>
          <a:ln w="12700">
            <a:solidFill>
              <a:srgbClr val="0D1B40"/>
            </a:solidFill>
            <a:prstDash val="solid"/>
          </a:ln>
        </p:spPr>
      </p:sp>
      <p:sp>
        <p:nvSpPr>
          <p:cNvPr id="1048703" name="Text 28"/>
          <p:cNvSpPr/>
          <p:nvPr/>
        </p:nvSpPr>
        <p:spPr>
          <a:xfrm>
            <a:off x="3986784" y="3200400"/>
            <a:ext cx="1051560" cy="27432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b="1" dirty="0" sz="1000" lang="en-US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dirty="0" sz="1000" lang="en-US"/>
          </a:p>
        </p:txBody>
      </p:sp>
      <p:sp>
        <p:nvSpPr>
          <p:cNvPr id="1048704" name="Text 29"/>
          <p:cNvSpPr/>
          <p:nvPr/>
        </p:nvSpPr>
        <p:spPr>
          <a:xfrm>
            <a:off x="3986784" y="3456432"/>
            <a:ext cx="1051560" cy="41148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dirty="0" sz="1000" lang="en-US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Kelola Data</a:t>
            </a:r>
            <a:endParaRPr dirty="0" sz="1000" lang="en-US"/>
          </a:p>
        </p:txBody>
      </p:sp>
      <p:sp>
        <p:nvSpPr>
          <p:cNvPr id="1048705" name="Text 30"/>
          <p:cNvSpPr/>
          <p:nvPr/>
        </p:nvSpPr>
        <p:spPr>
          <a:xfrm>
            <a:off x="5038344" y="3291840"/>
            <a:ext cx="155448" cy="50292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dirty="0" sz="1000" lang="en-US">
                <a:solidFill>
                  <a:srgbClr val="0D1B40"/>
                </a:solidFill>
              </a:rPr>
              <a:t>▶</a:t>
            </a:r>
            <a:endParaRPr dirty="0" sz="1000" lang="en-US"/>
          </a:p>
        </p:txBody>
      </p:sp>
      <p:sp>
        <p:nvSpPr>
          <p:cNvPr id="1048706" name="Shape 31"/>
          <p:cNvSpPr/>
          <p:nvPr/>
        </p:nvSpPr>
        <p:spPr>
          <a:xfrm>
            <a:off x="5193792" y="3200400"/>
            <a:ext cx="1051560" cy="685800"/>
          </a:xfrm>
          <a:prstGeom prst="roundRect">
            <a:avLst>
              <a:gd name="adj" fmla="val 10667"/>
            </a:avLst>
          </a:prstGeom>
          <a:solidFill>
            <a:srgbClr val="028090"/>
          </a:solidFill>
          <a:ln w="12700">
            <a:solidFill>
              <a:srgbClr val="0D1B40"/>
            </a:solidFill>
            <a:prstDash val="solid"/>
          </a:ln>
        </p:spPr>
      </p:sp>
      <p:sp>
        <p:nvSpPr>
          <p:cNvPr id="1048707" name="Text 32"/>
          <p:cNvSpPr/>
          <p:nvPr/>
        </p:nvSpPr>
        <p:spPr>
          <a:xfrm>
            <a:off x="5193792" y="3200400"/>
            <a:ext cx="1051560" cy="27432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b="1" dirty="0" sz="1000" lang="en-US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</a:t>
            </a:r>
            <a:endParaRPr dirty="0" sz="1000" lang="en-US"/>
          </a:p>
        </p:txBody>
      </p:sp>
      <p:sp>
        <p:nvSpPr>
          <p:cNvPr id="1048708" name="Text 33"/>
          <p:cNvSpPr/>
          <p:nvPr/>
        </p:nvSpPr>
        <p:spPr>
          <a:xfrm>
            <a:off x="5193792" y="3456432"/>
            <a:ext cx="1051560" cy="41148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dirty="0" sz="1000" lang="en-US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Simpan DB</a:t>
            </a:r>
            <a:endParaRPr dirty="0" sz="1000" lang="en-US"/>
          </a:p>
        </p:txBody>
      </p:sp>
      <p:sp>
        <p:nvSpPr>
          <p:cNvPr id="1048709" name="Text 34"/>
          <p:cNvSpPr/>
          <p:nvPr/>
        </p:nvSpPr>
        <p:spPr>
          <a:xfrm>
            <a:off x="6245352" y="3291840"/>
            <a:ext cx="155448" cy="50292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dirty="0" sz="1000" lang="en-US">
                <a:solidFill>
                  <a:srgbClr val="0D1B40"/>
                </a:solidFill>
              </a:rPr>
              <a:t>▶</a:t>
            </a:r>
            <a:endParaRPr dirty="0" sz="1000" lang="en-US"/>
          </a:p>
        </p:txBody>
      </p:sp>
      <p:sp>
        <p:nvSpPr>
          <p:cNvPr id="1048710" name="Shape 35"/>
          <p:cNvSpPr/>
          <p:nvPr/>
        </p:nvSpPr>
        <p:spPr>
          <a:xfrm>
            <a:off x="6400800" y="3200400"/>
            <a:ext cx="1051560" cy="685800"/>
          </a:xfrm>
          <a:prstGeom prst="roundRect">
            <a:avLst>
              <a:gd name="adj" fmla="val 10667"/>
            </a:avLst>
          </a:prstGeom>
          <a:solidFill>
            <a:srgbClr val="028090"/>
          </a:solidFill>
          <a:ln w="12700">
            <a:solidFill>
              <a:srgbClr val="0D1B40"/>
            </a:solidFill>
            <a:prstDash val="solid"/>
          </a:ln>
        </p:spPr>
      </p:sp>
      <p:sp>
        <p:nvSpPr>
          <p:cNvPr id="1048711" name="Text 36"/>
          <p:cNvSpPr/>
          <p:nvPr/>
        </p:nvSpPr>
        <p:spPr>
          <a:xfrm>
            <a:off x="6400800" y="3200400"/>
            <a:ext cx="1051560" cy="27432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b="1" dirty="0" sz="1000" lang="en-US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</a:t>
            </a:r>
            <a:endParaRPr dirty="0" sz="1000" lang="en-US"/>
          </a:p>
        </p:txBody>
      </p:sp>
      <p:sp>
        <p:nvSpPr>
          <p:cNvPr id="1048712" name="Text 37"/>
          <p:cNvSpPr/>
          <p:nvPr/>
        </p:nvSpPr>
        <p:spPr>
          <a:xfrm>
            <a:off x="6400800" y="3456432"/>
            <a:ext cx="1051560" cy="41148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dirty="0" sz="1000" lang="en-US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Tampil Data</a:t>
            </a:r>
            <a:endParaRPr dirty="0" sz="1000" lang="en-US"/>
          </a:p>
        </p:txBody>
      </p:sp>
      <p:sp>
        <p:nvSpPr>
          <p:cNvPr id="1048713" name="Text 38"/>
          <p:cNvSpPr/>
          <p:nvPr/>
        </p:nvSpPr>
        <p:spPr>
          <a:xfrm>
            <a:off x="7452360" y="3291840"/>
            <a:ext cx="155448" cy="50292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dirty="0" sz="1000" lang="en-US">
                <a:solidFill>
                  <a:srgbClr val="0D1B40"/>
                </a:solidFill>
              </a:rPr>
              <a:t>▶</a:t>
            </a:r>
            <a:endParaRPr dirty="0" sz="1000" lang="en-US"/>
          </a:p>
        </p:txBody>
      </p:sp>
      <p:sp>
        <p:nvSpPr>
          <p:cNvPr id="1048714" name="Shape 39"/>
          <p:cNvSpPr/>
          <p:nvPr/>
        </p:nvSpPr>
        <p:spPr>
          <a:xfrm>
            <a:off x="7607808" y="3200400"/>
            <a:ext cx="1051560" cy="685800"/>
          </a:xfrm>
          <a:prstGeom prst="roundRect">
            <a:avLst>
              <a:gd name="adj" fmla="val 10667"/>
            </a:avLst>
          </a:prstGeom>
          <a:solidFill>
            <a:srgbClr val="0D1B40"/>
          </a:solidFill>
          <a:ln w="12700">
            <a:solidFill>
              <a:srgbClr val="0D1B40"/>
            </a:solidFill>
            <a:prstDash val="solid"/>
          </a:ln>
        </p:spPr>
      </p:sp>
      <p:sp>
        <p:nvSpPr>
          <p:cNvPr id="1048715" name="Text 40"/>
          <p:cNvSpPr/>
          <p:nvPr/>
        </p:nvSpPr>
        <p:spPr>
          <a:xfrm>
            <a:off x="7607808" y="3200400"/>
            <a:ext cx="1051560" cy="27432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b="1" dirty="0" sz="1000" lang="en-US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</a:t>
            </a:r>
            <a:endParaRPr dirty="0" sz="1000" lang="en-US"/>
          </a:p>
        </p:txBody>
      </p:sp>
      <p:sp>
        <p:nvSpPr>
          <p:cNvPr id="1048716" name="Text 41"/>
          <p:cNvSpPr/>
          <p:nvPr/>
        </p:nvSpPr>
        <p:spPr>
          <a:xfrm>
            <a:off x="7607808" y="3456432"/>
            <a:ext cx="1051560" cy="41148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dirty="0" sz="1000" lang="en-US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Logout</a:t>
            </a:r>
            <a:endParaRPr dirty="0" sz="1000" lang="en-US"/>
          </a:p>
        </p:txBody>
      </p:sp>
      <p:sp>
        <p:nvSpPr>
          <p:cNvPr id="1048717" name="Shape 42"/>
          <p:cNvSpPr/>
          <p:nvPr/>
        </p:nvSpPr>
        <p:spPr>
          <a:xfrm>
            <a:off x="365760" y="4069080"/>
            <a:ext cx="8412480" cy="868680"/>
          </a:xfrm>
          <a:prstGeom prst="roundRect">
            <a:avLst>
              <a:gd name="adj" fmla="val 8421"/>
            </a:avLst>
          </a:prstGeom>
          <a:solidFill>
            <a:srgbClr val="E6F7F5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048718" name="Text 43"/>
          <p:cNvSpPr/>
          <p:nvPr/>
        </p:nvSpPr>
        <p:spPr>
          <a:xfrm>
            <a:off x="548640" y="4133088"/>
            <a:ext cx="8046720" cy="73152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dirty="0" sz="1200" lang="en-US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Akses sistem dibatasi hanya untuk administrator yang telah terautentikasi.</a:t>
            </a:r>
            <a:endParaRPr dirty="0" sz="1200" lang="en-US"/>
          </a:p>
          <a:p>
            <a:pPr indent="0" marL="0">
              <a:buNone/>
            </a:pPr>
            <a:r>
              <a:rPr dirty="0" sz="1200" lang="en-US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Setiap perubahan data langsung disimpan ke database MySQL secara real-time.</a:t>
            </a:r>
            <a:endParaRPr dirty="0" sz="1200"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3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22" name="Shape 0"/>
          <p:cNvSpPr/>
          <p:nvPr/>
        </p:nvSpPr>
        <p:spPr>
          <a:xfrm>
            <a:off x="0" y="0"/>
            <a:ext cx="9144000" cy="914400"/>
          </a:xfrm>
          <a:prstGeom prst="rect"/>
          <a:solidFill>
            <a:srgbClr val="0D1B40"/>
          </a:solidFill>
          <a:ln w="12700">
            <a:solidFill>
              <a:srgbClr val="0D1B40"/>
            </a:solidFill>
            <a:prstDash val="solid"/>
          </a:ln>
        </p:spPr>
      </p:sp>
      <p:sp>
        <p:nvSpPr>
          <p:cNvPr id="1048723" name="Text 1"/>
          <p:cNvSpPr/>
          <p:nvPr/>
        </p:nvSpPr>
        <p:spPr>
          <a:xfrm>
            <a:off x="457200" y="0"/>
            <a:ext cx="8229600" cy="91440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2400" lang="en-US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STRUKTUR DATABASE</a:t>
            </a:r>
            <a:endParaRPr dirty="0" sz="2400" lang="en-US"/>
          </a:p>
        </p:txBody>
      </p:sp>
      <p:sp>
        <p:nvSpPr>
          <p:cNvPr id="1048724" name="Shape 2"/>
          <p:cNvSpPr/>
          <p:nvPr/>
        </p:nvSpPr>
        <p:spPr>
          <a:xfrm>
            <a:off x="365760" y="1005840"/>
            <a:ext cx="3931920" cy="3566160"/>
          </a:xfrm>
          <a:prstGeom prst="roundRect">
            <a:avLst>
              <a:gd name="adj" fmla="val 2051"/>
            </a:avLst>
          </a:prstGeom>
          <a:solidFill>
            <a:srgbClr val="EFF6F8"/>
          </a:solidFill>
          <a:ln w="19050">
            <a:solidFill>
              <a:srgbClr val="028090"/>
            </a:solidFill>
            <a:prstDash val="solid"/>
          </a:ln>
        </p:spPr>
      </p:sp>
      <p:sp>
        <p:nvSpPr>
          <p:cNvPr id="1048725" name="Shape 3"/>
          <p:cNvSpPr/>
          <p:nvPr/>
        </p:nvSpPr>
        <p:spPr>
          <a:xfrm>
            <a:off x="365760" y="1005840"/>
            <a:ext cx="3931920" cy="457200"/>
          </a:xfrm>
          <a:prstGeom prst="roundRect">
            <a:avLst>
              <a:gd name="adj" fmla="val 16000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048726" name="Text 4"/>
          <p:cNvSpPr/>
          <p:nvPr/>
        </p:nvSpPr>
        <p:spPr>
          <a:xfrm>
            <a:off x="457200" y="1005840"/>
            <a:ext cx="3749040" cy="45720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1400" lang="en-US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🗄  Tabel: users</a:t>
            </a:r>
            <a:endParaRPr dirty="0" sz="1400" lang="en-US"/>
          </a:p>
        </p:txBody>
      </p:sp>
      <p:sp>
        <p:nvSpPr>
          <p:cNvPr id="1048727" name="Shape 5"/>
          <p:cNvSpPr/>
          <p:nvPr/>
        </p:nvSpPr>
        <p:spPr>
          <a:xfrm>
            <a:off x="411480" y="1554480"/>
            <a:ext cx="3840480" cy="438912"/>
          </a:xfrm>
          <a:prstGeom prst="rect"/>
          <a:solidFill>
            <a:srgbClr val="FFFFFF"/>
          </a:solidFill>
          <a:ln w="6350">
            <a:solidFill>
              <a:srgbClr val="D1E8EC"/>
            </a:solidFill>
            <a:prstDash val="solid"/>
          </a:ln>
        </p:spPr>
      </p:sp>
      <p:sp>
        <p:nvSpPr>
          <p:cNvPr id="1048728" name="Text 6"/>
          <p:cNvSpPr/>
          <p:nvPr/>
        </p:nvSpPr>
        <p:spPr>
          <a:xfrm>
            <a:off x="457200" y="1600200"/>
            <a:ext cx="1097280" cy="32004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000" lang="en-US">
                <a:solidFill>
                  <a:srgbClr val="0D1B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id</a:t>
            </a:r>
            <a:endParaRPr dirty="0" sz="1000" lang="en-US"/>
          </a:p>
        </p:txBody>
      </p:sp>
      <p:sp>
        <p:nvSpPr>
          <p:cNvPr id="1048729" name="Text 7"/>
          <p:cNvSpPr/>
          <p:nvPr/>
        </p:nvSpPr>
        <p:spPr>
          <a:xfrm>
            <a:off x="1600200" y="1600200"/>
            <a:ext cx="1188720" cy="32004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000" lang="en-US">
                <a:solidFill>
                  <a:srgbClr val="02809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BIGINT (PK)</a:t>
            </a:r>
            <a:endParaRPr dirty="0" sz="1000" lang="en-US"/>
          </a:p>
        </p:txBody>
      </p:sp>
      <p:sp>
        <p:nvSpPr>
          <p:cNvPr id="1048730" name="Text 8"/>
          <p:cNvSpPr/>
          <p:nvPr/>
        </p:nvSpPr>
        <p:spPr>
          <a:xfrm>
            <a:off x="2834640" y="1600200"/>
            <a:ext cx="1371600" cy="32004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900" lang="en-US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Auto increment</a:t>
            </a:r>
            <a:endParaRPr dirty="0" sz="900" lang="en-US"/>
          </a:p>
        </p:txBody>
      </p:sp>
      <p:sp>
        <p:nvSpPr>
          <p:cNvPr id="1048731" name="Shape 9"/>
          <p:cNvSpPr/>
          <p:nvPr/>
        </p:nvSpPr>
        <p:spPr>
          <a:xfrm>
            <a:off x="411480" y="2029968"/>
            <a:ext cx="3840480" cy="438912"/>
          </a:xfrm>
          <a:prstGeom prst="rect"/>
          <a:solidFill>
            <a:srgbClr val="F0F9FB"/>
          </a:solidFill>
          <a:ln w="6350">
            <a:solidFill>
              <a:srgbClr val="D1E8EC"/>
            </a:solidFill>
            <a:prstDash val="solid"/>
          </a:ln>
        </p:spPr>
      </p:sp>
      <p:sp>
        <p:nvSpPr>
          <p:cNvPr id="1048732" name="Text 10"/>
          <p:cNvSpPr/>
          <p:nvPr/>
        </p:nvSpPr>
        <p:spPr>
          <a:xfrm>
            <a:off x="457200" y="2075688"/>
            <a:ext cx="1097280" cy="32004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000" lang="en-US">
                <a:solidFill>
                  <a:srgbClr val="0D1B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name</a:t>
            </a:r>
            <a:endParaRPr dirty="0" sz="1000" lang="en-US"/>
          </a:p>
        </p:txBody>
      </p:sp>
      <p:sp>
        <p:nvSpPr>
          <p:cNvPr id="1048733" name="Text 11"/>
          <p:cNvSpPr/>
          <p:nvPr/>
        </p:nvSpPr>
        <p:spPr>
          <a:xfrm>
            <a:off x="1600200" y="2075688"/>
            <a:ext cx="1188720" cy="32004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000" lang="en-US">
                <a:solidFill>
                  <a:srgbClr val="02809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VARCHAR(255)</a:t>
            </a:r>
            <a:endParaRPr dirty="0" sz="1000" lang="en-US"/>
          </a:p>
        </p:txBody>
      </p:sp>
      <p:sp>
        <p:nvSpPr>
          <p:cNvPr id="1048734" name="Text 12"/>
          <p:cNvSpPr/>
          <p:nvPr/>
        </p:nvSpPr>
        <p:spPr>
          <a:xfrm>
            <a:off x="2834640" y="2075688"/>
            <a:ext cx="1371600" cy="32004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900" lang="en-US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Nama admin</a:t>
            </a:r>
            <a:endParaRPr dirty="0" sz="900" lang="en-US"/>
          </a:p>
        </p:txBody>
      </p:sp>
      <p:sp>
        <p:nvSpPr>
          <p:cNvPr id="1048735" name="Shape 13"/>
          <p:cNvSpPr/>
          <p:nvPr/>
        </p:nvSpPr>
        <p:spPr>
          <a:xfrm>
            <a:off x="411480" y="2505456"/>
            <a:ext cx="3840480" cy="438912"/>
          </a:xfrm>
          <a:prstGeom prst="rect"/>
          <a:solidFill>
            <a:srgbClr val="FFFFFF"/>
          </a:solidFill>
          <a:ln w="6350">
            <a:solidFill>
              <a:srgbClr val="D1E8EC"/>
            </a:solidFill>
            <a:prstDash val="solid"/>
          </a:ln>
        </p:spPr>
      </p:sp>
      <p:sp>
        <p:nvSpPr>
          <p:cNvPr id="1048736" name="Text 14"/>
          <p:cNvSpPr/>
          <p:nvPr/>
        </p:nvSpPr>
        <p:spPr>
          <a:xfrm>
            <a:off x="457200" y="2551176"/>
            <a:ext cx="1097280" cy="32004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000" lang="en-US">
                <a:solidFill>
                  <a:srgbClr val="0D1B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email</a:t>
            </a:r>
            <a:endParaRPr dirty="0" sz="1000" lang="en-US"/>
          </a:p>
        </p:txBody>
      </p:sp>
      <p:sp>
        <p:nvSpPr>
          <p:cNvPr id="1048737" name="Text 15"/>
          <p:cNvSpPr/>
          <p:nvPr/>
        </p:nvSpPr>
        <p:spPr>
          <a:xfrm>
            <a:off x="1600200" y="2551176"/>
            <a:ext cx="1188720" cy="32004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000" lang="en-US">
                <a:solidFill>
                  <a:srgbClr val="02809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VARCHAR(255)</a:t>
            </a:r>
            <a:endParaRPr dirty="0" sz="1000" lang="en-US"/>
          </a:p>
        </p:txBody>
      </p:sp>
      <p:sp>
        <p:nvSpPr>
          <p:cNvPr id="1048738" name="Text 16"/>
          <p:cNvSpPr/>
          <p:nvPr/>
        </p:nvSpPr>
        <p:spPr>
          <a:xfrm>
            <a:off x="2834640" y="2551176"/>
            <a:ext cx="1371600" cy="32004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900" lang="en-US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Email login (unik)</a:t>
            </a:r>
            <a:endParaRPr dirty="0" sz="900" lang="en-US"/>
          </a:p>
        </p:txBody>
      </p:sp>
      <p:sp>
        <p:nvSpPr>
          <p:cNvPr id="1048739" name="Shape 17"/>
          <p:cNvSpPr/>
          <p:nvPr/>
        </p:nvSpPr>
        <p:spPr>
          <a:xfrm>
            <a:off x="411480" y="2980944"/>
            <a:ext cx="3840480" cy="438912"/>
          </a:xfrm>
          <a:prstGeom prst="rect"/>
          <a:solidFill>
            <a:srgbClr val="F0F9FB"/>
          </a:solidFill>
          <a:ln w="6350">
            <a:solidFill>
              <a:srgbClr val="D1E8EC"/>
            </a:solidFill>
            <a:prstDash val="solid"/>
          </a:ln>
        </p:spPr>
      </p:sp>
      <p:sp>
        <p:nvSpPr>
          <p:cNvPr id="1048740" name="Text 18"/>
          <p:cNvSpPr/>
          <p:nvPr/>
        </p:nvSpPr>
        <p:spPr>
          <a:xfrm>
            <a:off x="457200" y="3026664"/>
            <a:ext cx="1097280" cy="32004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000" lang="en-US">
                <a:solidFill>
                  <a:srgbClr val="0D1B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password</a:t>
            </a:r>
            <a:endParaRPr dirty="0" sz="1000" lang="en-US"/>
          </a:p>
        </p:txBody>
      </p:sp>
      <p:sp>
        <p:nvSpPr>
          <p:cNvPr id="1048741" name="Text 19"/>
          <p:cNvSpPr/>
          <p:nvPr/>
        </p:nvSpPr>
        <p:spPr>
          <a:xfrm>
            <a:off x="1600200" y="3026664"/>
            <a:ext cx="1188720" cy="32004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000" lang="en-US">
                <a:solidFill>
                  <a:srgbClr val="02809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VARCHAR(255)</a:t>
            </a:r>
            <a:endParaRPr dirty="0" sz="1000" lang="en-US"/>
          </a:p>
        </p:txBody>
      </p:sp>
      <p:sp>
        <p:nvSpPr>
          <p:cNvPr id="1048742" name="Text 20"/>
          <p:cNvSpPr/>
          <p:nvPr/>
        </p:nvSpPr>
        <p:spPr>
          <a:xfrm>
            <a:off x="2834640" y="3026664"/>
            <a:ext cx="1371600" cy="32004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900" lang="en-US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Bcrypt terenkripsi</a:t>
            </a:r>
            <a:endParaRPr dirty="0" sz="900" lang="en-US"/>
          </a:p>
        </p:txBody>
      </p:sp>
      <p:sp>
        <p:nvSpPr>
          <p:cNvPr id="1048743" name="Shape 21"/>
          <p:cNvSpPr/>
          <p:nvPr/>
        </p:nvSpPr>
        <p:spPr>
          <a:xfrm>
            <a:off x="411480" y="3456432"/>
            <a:ext cx="3840480" cy="438912"/>
          </a:xfrm>
          <a:prstGeom prst="rect"/>
          <a:solidFill>
            <a:srgbClr val="FFFFFF"/>
          </a:solidFill>
          <a:ln w="6350">
            <a:solidFill>
              <a:srgbClr val="D1E8EC"/>
            </a:solidFill>
            <a:prstDash val="solid"/>
          </a:ln>
        </p:spPr>
      </p:sp>
      <p:sp>
        <p:nvSpPr>
          <p:cNvPr id="1048744" name="Text 22"/>
          <p:cNvSpPr/>
          <p:nvPr/>
        </p:nvSpPr>
        <p:spPr>
          <a:xfrm>
            <a:off x="457200" y="3502152"/>
            <a:ext cx="1097280" cy="32004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000" lang="en-US">
                <a:solidFill>
                  <a:srgbClr val="0D1B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created_at</a:t>
            </a:r>
            <a:endParaRPr dirty="0" sz="1000" lang="en-US"/>
          </a:p>
        </p:txBody>
      </p:sp>
      <p:sp>
        <p:nvSpPr>
          <p:cNvPr id="1048745" name="Text 23"/>
          <p:cNvSpPr/>
          <p:nvPr/>
        </p:nvSpPr>
        <p:spPr>
          <a:xfrm>
            <a:off x="1600200" y="3502152"/>
            <a:ext cx="1188720" cy="32004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000" lang="en-US">
                <a:solidFill>
                  <a:srgbClr val="02809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TIMESTAMP</a:t>
            </a:r>
            <a:endParaRPr dirty="0" sz="1000" lang="en-US"/>
          </a:p>
        </p:txBody>
      </p:sp>
      <p:sp>
        <p:nvSpPr>
          <p:cNvPr id="1048746" name="Text 24"/>
          <p:cNvSpPr/>
          <p:nvPr/>
        </p:nvSpPr>
        <p:spPr>
          <a:xfrm>
            <a:off x="2834640" y="3502152"/>
            <a:ext cx="1371600" cy="32004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900" lang="en-US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Waktu dibuat</a:t>
            </a:r>
            <a:endParaRPr dirty="0" sz="900" lang="en-US"/>
          </a:p>
        </p:txBody>
      </p:sp>
      <p:sp>
        <p:nvSpPr>
          <p:cNvPr id="1048747" name="Shape 25"/>
          <p:cNvSpPr/>
          <p:nvPr/>
        </p:nvSpPr>
        <p:spPr>
          <a:xfrm>
            <a:off x="411480" y="3931920"/>
            <a:ext cx="3840480" cy="438912"/>
          </a:xfrm>
          <a:prstGeom prst="rect"/>
          <a:solidFill>
            <a:srgbClr val="F0F9FB"/>
          </a:solidFill>
          <a:ln w="6350">
            <a:solidFill>
              <a:srgbClr val="D1E8EC"/>
            </a:solidFill>
            <a:prstDash val="solid"/>
          </a:ln>
        </p:spPr>
      </p:sp>
      <p:sp>
        <p:nvSpPr>
          <p:cNvPr id="1048748" name="Text 26"/>
          <p:cNvSpPr/>
          <p:nvPr/>
        </p:nvSpPr>
        <p:spPr>
          <a:xfrm>
            <a:off x="457200" y="3977640"/>
            <a:ext cx="1097280" cy="32004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000" lang="en-US">
                <a:solidFill>
                  <a:srgbClr val="0D1B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updated_at</a:t>
            </a:r>
            <a:endParaRPr dirty="0" sz="1000" lang="en-US"/>
          </a:p>
        </p:txBody>
      </p:sp>
      <p:sp>
        <p:nvSpPr>
          <p:cNvPr id="1048749" name="Text 27"/>
          <p:cNvSpPr/>
          <p:nvPr/>
        </p:nvSpPr>
        <p:spPr>
          <a:xfrm>
            <a:off x="1600200" y="3977640"/>
            <a:ext cx="1188720" cy="32004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000" lang="en-US">
                <a:solidFill>
                  <a:srgbClr val="02809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TIMESTAMP</a:t>
            </a:r>
            <a:endParaRPr dirty="0" sz="1000" lang="en-US"/>
          </a:p>
        </p:txBody>
      </p:sp>
      <p:sp>
        <p:nvSpPr>
          <p:cNvPr id="1048750" name="Text 28"/>
          <p:cNvSpPr/>
          <p:nvPr/>
        </p:nvSpPr>
        <p:spPr>
          <a:xfrm>
            <a:off x="2834640" y="3977640"/>
            <a:ext cx="1371600" cy="32004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900" lang="en-US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Waktu diperbarui</a:t>
            </a:r>
            <a:endParaRPr dirty="0" sz="900" lang="en-US"/>
          </a:p>
        </p:txBody>
      </p:sp>
      <p:sp>
        <p:nvSpPr>
          <p:cNvPr id="1048751" name="Shape 29"/>
          <p:cNvSpPr/>
          <p:nvPr/>
        </p:nvSpPr>
        <p:spPr>
          <a:xfrm>
            <a:off x="4663440" y="1005840"/>
            <a:ext cx="4114800" cy="3566160"/>
          </a:xfrm>
          <a:prstGeom prst="roundRect">
            <a:avLst>
              <a:gd name="adj" fmla="val 2051"/>
            </a:avLst>
          </a:prstGeom>
          <a:solidFill>
            <a:srgbClr val="EFF6F8"/>
          </a:solidFill>
          <a:ln w="19050">
            <a:solidFill>
              <a:srgbClr val="0D1B40"/>
            </a:solidFill>
            <a:prstDash val="solid"/>
          </a:ln>
        </p:spPr>
      </p:sp>
      <p:sp>
        <p:nvSpPr>
          <p:cNvPr id="1048752" name="Shape 30"/>
          <p:cNvSpPr/>
          <p:nvPr/>
        </p:nvSpPr>
        <p:spPr>
          <a:xfrm>
            <a:off x="4663440" y="1005840"/>
            <a:ext cx="4114800" cy="457200"/>
          </a:xfrm>
          <a:prstGeom prst="roundRect">
            <a:avLst>
              <a:gd name="adj" fmla="val 16000"/>
            </a:avLst>
          </a:prstGeom>
          <a:solidFill>
            <a:srgbClr val="0D1B40"/>
          </a:solidFill>
          <a:ln w="12700">
            <a:solidFill>
              <a:srgbClr val="0D1B40"/>
            </a:solidFill>
            <a:prstDash val="solid"/>
          </a:ln>
        </p:spPr>
      </p:sp>
      <p:sp>
        <p:nvSpPr>
          <p:cNvPr id="1048753" name="Text 31"/>
          <p:cNvSpPr/>
          <p:nvPr/>
        </p:nvSpPr>
        <p:spPr>
          <a:xfrm>
            <a:off x="4754880" y="1005840"/>
            <a:ext cx="3931920" cy="45720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1400" lang="en-US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🗄  Tabel: mahasiswa</a:t>
            </a:r>
            <a:endParaRPr dirty="0" sz="1400" lang="en-US"/>
          </a:p>
        </p:txBody>
      </p:sp>
      <p:sp>
        <p:nvSpPr>
          <p:cNvPr id="1048754" name="Shape 32"/>
          <p:cNvSpPr/>
          <p:nvPr/>
        </p:nvSpPr>
        <p:spPr>
          <a:xfrm>
            <a:off x="4709160" y="1554480"/>
            <a:ext cx="4023360" cy="438912"/>
          </a:xfrm>
          <a:prstGeom prst="rect"/>
          <a:solidFill>
            <a:srgbClr val="FFFFFF"/>
          </a:solidFill>
          <a:ln w="6350">
            <a:solidFill>
              <a:srgbClr val="C7D8E8"/>
            </a:solidFill>
            <a:prstDash val="solid"/>
          </a:ln>
        </p:spPr>
      </p:sp>
      <p:sp>
        <p:nvSpPr>
          <p:cNvPr id="1048755" name="Text 33"/>
          <p:cNvSpPr/>
          <p:nvPr/>
        </p:nvSpPr>
        <p:spPr>
          <a:xfrm>
            <a:off x="4754880" y="1600200"/>
            <a:ext cx="1463040" cy="32004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000" lang="en-US">
                <a:solidFill>
                  <a:srgbClr val="0D1B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id</a:t>
            </a:r>
            <a:endParaRPr dirty="0" sz="1000" lang="en-US"/>
          </a:p>
        </p:txBody>
      </p:sp>
      <p:sp>
        <p:nvSpPr>
          <p:cNvPr id="1048756" name="Text 34"/>
          <p:cNvSpPr/>
          <p:nvPr/>
        </p:nvSpPr>
        <p:spPr>
          <a:xfrm>
            <a:off x="6263640" y="1600200"/>
            <a:ext cx="1188720" cy="32004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000" lang="en-US">
                <a:solidFill>
                  <a:srgbClr val="02809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BIGINT (PK)</a:t>
            </a:r>
            <a:endParaRPr dirty="0" sz="1000" lang="en-US"/>
          </a:p>
        </p:txBody>
      </p:sp>
      <p:sp>
        <p:nvSpPr>
          <p:cNvPr id="1048757" name="Text 35"/>
          <p:cNvSpPr/>
          <p:nvPr/>
        </p:nvSpPr>
        <p:spPr>
          <a:xfrm>
            <a:off x="7498080" y="1600200"/>
            <a:ext cx="1188720" cy="32004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900" lang="en-US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Auto increment</a:t>
            </a:r>
            <a:endParaRPr dirty="0" sz="900" lang="en-US"/>
          </a:p>
        </p:txBody>
      </p:sp>
      <p:sp>
        <p:nvSpPr>
          <p:cNvPr id="1048758" name="Shape 36"/>
          <p:cNvSpPr/>
          <p:nvPr/>
        </p:nvSpPr>
        <p:spPr>
          <a:xfrm>
            <a:off x="4709160" y="2029968"/>
            <a:ext cx="4023360" cy="438912"/>
          </a:xfrm>
          <a:prstGeom prst="rect"/>
          <a:solidFill>
            <a:srgbClr val="EDF2F7"/>
          </a:solidFill>
          <a:ln w="6350">
            <a:solidFill>
              <a:srgbClr val="C7D8E8"/>
            </a:solidFill>
            <a:prstDash val="solid"/>
          </a:ln>
        </p:spPr>
      </p:sp>
      <p:sp>
        <p:nvSpPr>
          <p:cNvPr id="1048759" name="Text 37"/>
          <p:cNvSpPr/>
          <p:nvPr/>
        </p:nvSpPr>
        <p:spPr>
          <a:xfrm>
            <a:off x="4754880" y="2075688"/>
            <a:ext cx="1463040" cy="32004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000" lang="en-US">
                <a:solidFill>
                  <a:srgbClr val="0D1B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nim</a:t>
            </a:r>
            <a:endParaRPr dirty="0" sz="1000" lang="en-US"/>
          </a:p>
        </p:txBody>
      </p:sp>
      <p:sp>
        <p:nvSpPr>
          <p:cNvPr id="1048760" name="Text 38"/>
          <p:cNvSpPr/>
          <p:nvPr/>
        </p:nvSpPr>
        <p:spPr>
          <a:xfrm>
            <a:off x="6263640" y="2075688"/>
            <a:ext cx="1188720" cy="32004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000" lang="en-US">
                <a:solidFill>
                  <a:srgbClr val="02809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VARCHAR(20)</a:t>
            </a:r>
            <a:endParaRPr dirty="0" sz="1000" lang="en-US"/>
          </a:p>
        </p:txBody>
      </p:sp>
      <p:sp>
        <p:nvSpPr>
          <p:cNvPr id="1048761" name="Text 39"/>
          <p:cNvSpPr/>
          <p:nvPr/>
        </p:nvSpPr>
        <p:spPr>
          <a:xfrm>
            <a:off x="7498080" y="2075688"/>
            <a:ext cx="1188720" cy="32004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900" lang="en-US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NIM unik mahasiswa</a:t>
            </a:r>
            <a:endParaRPr dirty="0" sz="900" lang="en-US"/>
          </a:p>
        </p:txBody>
      </p:sp>
      <p:sp>
        <p:nvSpPr>
          <p:cNvPr id="1048762" name="Shape 40"/>
          <p:cNvSpPr/>
          <p:nvPr/>
        </p:nvSpPr>
        <p:spPr>
          <a:xfrm>
            <a:off x="4709160" y="2505456"/>
            <a:ext cx="4023360" cy="438912"/>
          </a:xfrm>
          <a:prstGeom prst="rect"/>
          <a:solidFill>
            <a:srgbClr val="FFFFFF"/>
          </a:solidFill>
          <a:ln w="6350">
            <a:solidFill>
              <a:srgbClr val="C7D8E8"/>
            </a:solidFill>
            <a:prstDash val="solid"/>
          </a:ln>
        </p:spPr>
      </p:sp>
      <p:sp>
        <p:nvSpPr>
          <p:cNvPr id="1048763" name="Text 41"/>
          <p:cNvSpPr/>
          <p:nvPr/>
        </p:nvSpPr>
        <p:spPr>
          <a:xfrm>
            <a:off x="4754880" y="2551176"/>
            <a:ext cx="1463040" cy="32004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000" lang="en-US">
                <a:solidFill>
                  <a:srgbClr val="0D1B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nama</a:t>
            </a:r>
            <a:endParaRPr dirty="0" sz="1000" lang="en-US"/>
          </a:p>
        </p:txBody>
      </p:sp>
      <p:sp>
        <p:nvSpPr>
          <p:cNvPr id="1048764" name="Text 42"/>
          <p:cNvSpPr/>
          <p:nvPr/>
        </p:nvSpPr>
        <p:spPr>
          <a:xfrm>
            <a:off x="6263640" y="2551176"/>
            <a:ext cx="1188720" cy="32004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000" lang="en-US">
                <a:solidFill>
                  <a:srgbClr val="02809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VARCHAR(255)</a:t>
            </a:r>
            <a:endParaRPr dirty="0" sz="1000" lang="en-US"/>
          </a:p>
        </p:txBody>
      </p:sp>
      <p:sp>
        <p:nvSpPr>
          <p:cNvPr id="1048765" name="Text 43"/>
          <p:cNvSpPr/>
          <p:nvPr/>
        </p:nvSpPr>
        <p:spPr>
          <a:xfrm>
            <a:off x="7498080" y="2551176"/>
            <a:ext cx="1188720" cy="32004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900" lang="en-US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Nama lengkap</a:t>
            </a:r>
            <a:endParaRPr dirty="0" sz="900" lang="en-US"/>
          </a:p>
        </p:txBody>
      </p:sp>
      <p:sp>
        <p:nvSpPr>
          <p:cNvPr id="1048766" name="Shape 44"/>
          <p:cNvSpPr/>
          <p:nvPr/>
        </p:nvSpPr>
        <p:spPr>
          <a:xfrm>
            <a:off x="4709160" y="2980944"/>
            <a:ext cx="4023360" cy="438912"/>
          </a:xfrm>
          <a:prstGeom prst="rect"/>
          <a:solidFill>
            <a:srgbClr val="EDF2F7"/>
          </a:solidFill>
          <a:ln w="6350">
            <a:solidFill>
              <a:srgbClr val="C7D8E8"/>
            </a:solidFill>
            <a:prstDash val="solid"/>
          </a:ln>
        </p:spPr>
      </p:sp>
      <p:sp>
        <p:nvSpPr>
          <p:cNvPr id="1048767" name="Text 45"/>
          <p:cNvSpPr/>
          <p:nvPr/>
        </p:nvSpPr>
        <p:spPr>
          <a:xfrm>
            <a:off x="4754880" y="3026664"/>
            <a:ext cx="1463040" cy="32004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000" lang="en-US">
                <a:solidFill>
                  <a:srgbClr val="0D1B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jurusan</a:t>
            </a:r>
            <a:endParaRPr dirty="0" sz="1000" lang="en-US"/>
          </a:p>
        </p:txBody>
      </p:sp>
      <p:sp>
        <p:nvSpPr>
          <p:cNvPr id="1048768" name="Text 46"/>
          <p:cNvSpPr/>
          <p:nvPr/>
        </p:nvSpPr>
        <p:spPr>
          <a:xfrm>
            <a:off x="6263640" y="3026664"/>
            <a:ext cx="1188720" cy="32004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000" lang="en-US">
                <a:solidFill>
                  <a:srgbClr val="02809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VARCHAR(255)</a:t>
            </a:r>
            <a:endParaRPr dirty="0" sz="1000" lang="en-US"/>
          </a:p>
        </p:txBody>
      </p:sp>
      <p:sp>
        <p:nvSpPr>
          <p:cNvPr id="1048769" name="Text 47"/>
          <p:cNvSpPr/>
          <p:nvPr/>
        </p:nvSpPr>
        <p:spPr>
          <a:xfrm>
            <a:off x="7498080" y="3026664"/>
            <a:ext cx="1188720" cy="32004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900" lang="en-US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Program studi</a:t>
            </a:r>
            <a:endParaRPr dirty="0" sz="900" lang="en-US"/>
          </a:p>
        </p:txBody>
      </p:sp>
      <p:sp>
        <p:nvSpPr>
          <p:cNvPr id="1048770" name="Shape 48"/>
          <p:cNvSpPr/>
          <p:nvPr/>
        </p:nvSpPr>
        <p:spPr>
          <a:xfrm>
            <a:off x="4709160" y="3456432"/>
            <a:ext cx="4023360" cy="438912"/>
          </a:xfrm>
          <a:prstGeom prst="rect"/>
          <a:solidFill>
            <a:srgbClr val="FFFFFF"/>
          </a:solidFill>
          <a:ln w="6350">
            <a:solidFill>
              <a:srgbClr val="C7D8E8"/>
            </a:solidFill>
            <a:prstDash val="solid"/>
          </a:ln>
        </p:spPr>
      </p:sp>
      <p:sp>
        <p:nvSpPr>
          <p:cNvPr id="1048771" name="Text 49"/>
          <p:cNvSpPr/>
          <p:nvPr/>
        </p:nvSpPr>
        <p:spPr>
          <a:xfrm>
            <a:off x="4754880" y="3502152"/>
            <a:ext cx="1463040" cy="32004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000" lang="en-US">
                <a:solidFill>
                  <a:srgbClr val="0D1B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email</a:t>
            </a:r>
            <a:endParaRPr dirty="0" sz="1000" lang="en-US"/>
          </a:p>
        </p:txBody>
      </p:sp>
      <p:sp>
        <p:nvSpPr>
          <p:cNvPr id="1048772" name="Text 50"/>
          <p:cNvSpPr/>
          <p:nvPr/>
        </p:nvSpPr>
        <p:spPr>
          <a:xfrm>
            <a:off x="6263640" y="3502152"/>
            <a:ext cx="1188720" cy="32004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000" lang="en-US">
                <a:solidFill>
                  <a:srgbClr val="02809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VARCHAR(255)</a:t>
            </a:r>
            <a:endParaRPr dirty="0" sz="1000" lang="en-US"/>
          </a:p>
        </p:txBody>
      </p:sp>
      <p:sp>
        <p:nvSpPr>
          <p:cNvPr id="1048773" name="Text 51"/>
          <p:cNvSpPr/>
          <p:nvPr/>
        </p:nvSpPr>
        <p:spPr>
          <a:xfrm>
            <a:off x="7498080" y="3502152"/>
            <a:ext cx="1188720" cy="32004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900" lang="en-US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Email mahasiswa</a:t>
            </a:r>
            <a:endParaRPr dirty="0" sz="900" lang="en-US"/>
          </a:p>
        </p:txBody>
      </p:sp>
      <p:sp>
        <p:nvSpPr>
          <p:cNvPr id="1048774" name="Shape 52"/>
          <p:cNvSpPr/>
          <p:nvPr/>
        </p:nvSpPr>
        <p:spPr>
          <a:xfrm>
            <a:off x="4709160" y="3931920"/>
            <a:ext cx="4023360" cy="438912"/>
          </a:xfrm>
          <a:prstGeom prst="rect"/>
          <a:solidFill>
            <a:srgbClr val="EDF2F7"/>
          </a:solidFill>
          <a:ln w="6350">
            <a:solidFill>
              <a:srgbClr val="C7D8E8"/>
            </a:solidFill>
            <a:prstDash val="solid"/>
          </a:ln>
        </p:spPr>
      </p:sp>
      <p:sp>
        <p:nvSpPr>
          <p:cNvPr id="1048775" name="Text 53"/>
          <p:cNvSpPr/>
          <p:nvPr/>
        </p:nvSpPr>
        <p:spPr>
          <a:xfrm>
            <a:off x="4754880" y="3977640"/>
            <a:ext cx="1463040" cy="32004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000" lang="en-US">
                <a:solidFill>
                  <a:srgbClr val="0D1B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created_at / updated_at</a:t>
            </a:r>
            <a:endParaRPr dirty="0" sz="1000" lang="en-US"/>
          </a:p>
        </p:txBody>
      </p:sp>
      <p:sp>
        <p:nvSpPr>
          <p:cNvPr id="1048776" name="Text 54"/>
          <p:cNvSpPr/>
          <p:nvPr/>
        </p:nvSpPr>
        <p:spPr>
          <a:xfrm>
            <a:off x="6263640" y="3977640"/>
            <a:ext cx="1188720" cy="32004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000" lang="en-US">
                <a:solidFill>
                  <a:srgbClr val="02809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TIMESTAMP</a:t>
            </a:r>
            <a:endParaRPr dirty="0" sz="1000" lang="en-US"/>
          </a:p>
        </p:txBody>
      </p:sp>
      <p:sp>
        <p:nvSpPr>
          <p:cNvPr id="1048777" name="Text 55"/>
          <p:cNvSpPr/>
          <p:nvPr/>
        </p:nvSpPr>
        <p:spPr>
          <a:xfrm>
            <a:off x="7498080" y="3977640"/>
            <a:ext cx="1188720" cy="32004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900" lang="en-US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Waktu dibuat/diperbarui</a:t>
            </a:r>
            <a:endParaRPr dirty="0" sz="900" lang="en-US"/>
          </a:p>
        </p:txBody>
      </p:sp>
      <p:sp>
        <p:nvSpPr>
          <p:cNvPr id="1048778" name="Text 56"/>
          <p:cNvSpPr/>
          <p:nvPr/>
        </p:nvSpPr>
        <p:spPr>
          <a:xfrm>
            <a:off x="365760" y="4681728"/>
            <a:ext cx="8412480" cy="292608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dirty="0" sz="1100" lang="en-US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Relasi: tabel users → autentikasi admin  |  tabel mahasiswa → data dikelola admin</a:t>
            </a:r>
            <a:endParaRPr dirty="0" sz="1100"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6F8"/>
        </a:solidFill>
        <a:effectLst/>
      </p:bgPr>
    </p:bg>
    <p:spTree>
      <p:nvGrpSpPr>
        <p:cNvPr id="3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82" name="Shape 0"/>
          <p:cNvSpPr/>
          <p:nvPr/>
        </p:nvSpPr>
        <p:spPr>
          <a:xfrm>
            <a:off x="0" y="0"/>
            <a:ext cx="9144000" cy="914400"/>
          </a:xfrm>
          <a:prstGeom prst="rect"/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048783" name="Text 1"/>
          <p:cNvSpPr/>
          <p:nvPr/>
        </p:nvSpPr>
        <p:spPr>
          <a:xfrm>
            <a:off x="457200" y="0"/>
            <a:ext cx="8229600" cy="91440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2200" lang="en-US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IMPLEMENTASI &amp; TEKNOLOGI</a:t>
            </a:r>
            <a:endParaRPr dirty="0" sz="2200" lang="en-US"/>
          </a:p>
        </p:txBody>
      </p:sp>
      <p:sp>
        <p:nvSpPr>
          <p:cNvPr id="1048784" name="Shape 2"/>
          <p:cNvSpPr/>
          <p:nvPr/>
        </p:nvSpPr>
        <p:spPr>
          <a:xfrm>
            <a:off x="365760" y="1005840"/>
            <a:ext cx="2651760" cy="457200"/>
          </a:xfrm>
          <a:prstGeom prst="roundRect">
            <a:avLst>
              <a:gd name="adj" fmla="val 16000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48785" name="Text 3"/>
          <p:cNvSpPr/>
          <p:nvPr/>
        </p:nvSpPr>
        <p:spPr>
          <a:xfrm>
            <a:off x="365760" y="1005840"/>
            <a:ext cx="2651760" cy="45720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b="1" dirty="0" sz="1300" lang="en-US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FRONTEND</a:t>
            </a:r>
            <a:endParaRPr dirty="0" sz="1300" lang="en-US"/>
          </a:p>
        </p:txBody>
      </p:sp>
      <p:sp>
        <p:nvSpPr>
          <p:cNvPr id="1048786" name="Shape 4"/>
          <p:cNvSpPr/>
          <p:nvPr/>
        </p:nvSpPr>
        <p:spPr>
          <a:xfrm>
            <a:off x="365760" y="1463040"/>
            <a:ext cx="265176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D1E8EC"/>
            </a:solidFill>
            <a:prstDash val="solid"/>
          </a:ln>
        </p:spPr>
      </p:sp>
      <p:sp>
        <p:nvSpPr>
          <p:cNvPr id="1048787" name="Text 5"/>
          <p:cNvSpPr/>
          <p:nvPr/>
        </p:nvSpPr>
        <p:spPr>
          <a:xfrm>
            <a:off x="457200" y="1536192"/>
            <a:ext cx="2468880" cy="402336"/>
          </a:xfrm>
          <a:prstGeom prst="rect"/>
          <a:noFill/>
        </p:spPr>
        <p:txBody>
          <a:bodyPr anchor="ctr" rtlCol="0" wrap="square"/>
          <a:p>
            <a:pPr indent="-342900" marL="342900">
              <a:buSzPct val="100000"/>
              <a:buChar char="•"/>
            </a:pPr>
            <a:r>
              <a:rPr dirty="0" sz="1100" lang="en-US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HTML5 — Struktur halaman</a:t>
            </a:r>
            <a:endParaRPr dirty="0" sz="1100" lang="en-US"/>
          </a:p>
        </p:txBody>
      </p:sp>
      <p:sp>
        <p:nvSpPr>
          <p:cNvPr id="1048788" name="Text 6"/>
          <p:cNvSpPr/>
          <p:nvPr/>
        </p:nvSpPr>
        <p:spPr>
          <a:xfrm>
            <a:off x="457200" y="1975104"/>
            <a:ext cx="2468880" cy="402336"/>
          </a:xfrm>
          <a:prstGeom prst="rect"/>
          <a:noFill/>
        </p:spPr>
        <p:txBody>
          <a:bodyPr anchor="ctr" rtlCol="0" wrap="square"/>
          <a:p>
            <a:pPr indent="-342900" marL="342900">
              <a:buSzPct val="100000"/>
              <a:buChar char="•"/>
            </a:pPr>
            <a:r>
              <a:rPr dirty="0" sz="1100" lang="en-US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CSS3 — Styling</a:t>
            </a:r>
            <a:endParaRPr dirty="0" sz="1100" lang="en-US"/>
          </a:p>
        </p:txBody>
      </p:sp>
      <p:sp>
        <p:nvSpPr>
          <p:cNvPr id="1048789" name="Text 7"/>
          <p:cNvSpPr/>
          <p:nvPr/>
        </p:nvSpPr>
        <p:spPr>
          <a:xfrm>
            <a:off x="457200" y="2414016"/>
            <a:ext cx="2468880" cy="402336"/>
          </a:xfrm>
          <a:prstGeom prst="rect"/>
          <a:noFill/>
        </p:spPr>
        <p:txBody>
          <a:bodyPr anchor="ctr" rtlCol="0" wrap="square"/>
          <a:p>
            <a:pPr indent="-342900" marL="342900">
              <a:buSzPct val="100000"/>
              <a:buChar char="•"/>
            </a:pPr>
            <a:r>
              <a:rPr dirty="0" sz="1100" lang="en-US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Bootstrap 5 — Responsif</a:t>
            </a:r>
            <a:endParaRPr dirty="0" sz="1100" lang="en-US"/>
          </a:p>
        </p:txBody>
      </p:sp>
      <p:sp>
        <p:nvSpPr>
          <p:cNvPr id="1048790" name="Text 8"/>
          <p:cNvSpPr/>
          <p:nvPr/>
        </p:nvSpPr>
        <p:spPr>
          <a:xfrm>
            <a:off x="457200" y="2852928"/>
            <a:ext cx="2468880" cy="402336"/>
          </a:xfrm>
          <a:prstGeom prst="rect"/>
          <a:noFill/>
        </p:spPr>
        <p:txBody>
          <a:bodyPr anchor="ctr" rtlCol="0" wrap="square"/>
          <a:p>
            <a:pPr indent="-342900" marL="342900">
              <a:buSzPct val="100000"/>
              <a:buChar char="•"/>
            </a:pPr>
            <a:r>
              <a:rPr dirty="0" sz="1100" lang="en-US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Bootstrap Icons — Ikon UI</a:t>
            </a:r>
            <a:endParaRPr dirty="0" sz="1100" lang="en-US"/>
          </a:p>
        </p:txBody>
      </p:sp>
      <p:sp>
        <p:nvSpPr>
          <p:cNvPr id="1048791" name="Shape 9"/>
          <p:cNvSpPr/>
          <p:nvPr/>
        </p:nvSpPr>
        <p:spPr>
          <a:xfrm>
            <a:off x="3246120" y="1005840"/>
            <a:ext cx="2651760" cy="457200"/>
          </a:xfrm>
          <a:prstGeom prst="roundRect">
            <a:avLst>
              <a:gd name="adj" fmla="val 16000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048792" name="Text 10"/>
          <p:cNvSpPr/>
          <p:nvPr/>
        </p:nvSpPr>
        <p:spPr>
          <a:xfrm>
            <a:off x="3246120" y="1005840"/>
            <a:ext cx="2651760" cy="45720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b="1" dirty="0" sz="1300" lang="en-US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BACKEND</a:t>
            </a:r>
            <a:endParaRPr dirty="0" sz="1300" lang="en-US"/>
          </a:p>
        </p:txBody>
      </p:sp>
      <p:sp>
        <p:nvSpPr>
          <p:cNvPr id="1048793" name="Shape 11"/>
          <p:cNvSpPr/>
          <p:nvPr/>
        </p:nvSpPr>
        <p:spPr>
          <a:xfrm>
            <a:off x="3246120" y="1463040"/>
            <a:ext cx="265176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D1E8EC"/>
            </a:solidFill>
            <a:prstDash val="solid"/>
          </a:ln>
        </p:spPr>
      </p:sp>
      <p:sp>
        <p:nvSpPr>
          <p:cNvPr id="1048794" name="Text 12"/>
          <p:cNvSpPr/>
          <p:nvPr/>
        </p:nvSpPr>
        <p:spPr>
          <a:xfrm>
            <a:off x="3337560" y="1536192"/>
            <a:ext cx="2468880" cy="402336"/>
          </a:xfrm>
          <a:prstGeom prst="rect"/>
          <a:noFill/>
        </p:spPr>
        <p:txBody>
          <a:bodyPr anchor="ctr" rtlCol="0" wrap="square"/>
          <a:p>
            <a:pPr indent="-342900" marL="342900">
              <a:buSzPct val="100000"/>
              <a:buChar char="•"/>
            </a:pPr>
            <a:r>
              <a:rPr dirty="0" sz="1100" lang="en-US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PHP 8.2 — Server-side</a:t>
            </a:r>
            <a:endParaRPr dirty="0" sz="1100" lang="en-US"/>
          </a:p>
        </p:txBody>
      </p:sp>
      <p:sp>
        <p:nvSpPr>
          <p:cNvPr id="1048795" name="Text 13"/>
          <p:cNvSpPr/>
          <p:nvPr/>
        </p:nvSpPr>
        <p:spPr>
          <a:xfrm>
            <a:off x="3337560" y="1975104"/>
            <a:ext cx="2468880" cy="402336"/>
          </a:xfrm>
          <a:prstGeom prst="rect"/>
          <a:noFill/>
        </p:spPr>
        <p:txBody>
          <a:bodyPr anchor="ctr" rtlCol="0" wrap="square"/>
          <a:p>
            <a:pPr indent="-342900" marL="342900">
              <a:buSzPct val="100000"/>
              <a:buChar char="•"/>
            </a:pPr>
            <a:r>
              <a:rPr dirty="0" sz="1100" lang="en-US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Laravel 12 — Framework MVC</a:t>
            </a:r>
            <a:endParaRPr dirty="0" sz="1100" lang="en-US"/>
          </a:p>
        </p:txBody>
      </p:sp>
      <p:sp>
        <p:nvSpPr>
          <p:cNvPr id="1048796" name="Text 14"/>
          <p:cNvSpPr/>
          <p:nvPr/>
        </p:nvSpPr>
        <p:spPr>
          <a:xfrm>
            <a:off x="3337560" y="2414016"/>
            <a:ext cx="2468880" cy="402336"/>
          </a:xfrm>
          <a:prstGeom prst="rect"/>
          <a:noFill/>
        </p:spPr>
        <p:txBody>
          <a:bodyPr anchor="ctr" rtlCol="0" wrap="square"/>
          <a:p>
            <a:pPr indent="-342900" marL="342900">
              <a:buSzPct val="100000"/>
              <a:buChar char="•"/>
            </a:pPr>
            <a:r>
              <a:rPr dirty="0" sz="1100" lang="en-US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Eloquent ORM — Database</a:t>
            </a:r>
            <a:endParaRPr dirty="0" sz="1100" lang="en-US"/>
          </a:p>
        </p:txBody>
      </p:sp>
      <p:sp>
        <p:nvSpPr>
          <p:cNvPr id="1048797" name="Text 15"/>
          <p:cNvSpPr/>
          <p:nvPr/>
        </p:nvSpPr>
        <p:spPr>
          <a:xfrm>
            <a:off x="3337560" y="2852928"/>
            <a:ext cx="2468880" cy="402336"/>
          </a:xfrm>
          <a:prstGeom prst="rect"/>
          <a:noFill/>
        </p:spPr>
        <p:txBody>
          <a:bodyPr anchor="ctr" rtlCol="0" wrap="square"/>
          <a:p>
            <a:pPr indent="-342900" marL="342900">
              <a:buSzPct val="100000"/>
              <a:buChar char="•"/>
            </a:pPr>
            <a:r>
              <a:rPr dirty="0" sz="1100" lang="en-US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Blade — Template engine</a:t>
            </a:r>
            <a:endParaRPr dirty="0" sz="1100" lang="en-US"/>
          </a:p>
        </p:txBody>
      </p:sp>
      <p:sp>
        <p:nvSpPr>
          <p:cNvPr id="1048798" name="Shape 16"/>
          <p:cNvSpPr/>
          <p:nvPr/>
        </p:nvSpPr>
        <p:spPr>
          <a:xfrm>
            <a:off x="6126480" y="1005840"/>
            <a:ext cx="2651760" cy="457200"/>
          </a:xfrm>
          <a:prstGeom prst="roundRect">
            <a:avLst>
              <a:gd name="adj" fmla="val 16000"/>
            </a:avLst>
          </a:prstGeom>
          <a:solidFill>
            <a:srgbClr val="0D1B40"/>
          </a:solidFill>
          <a:ln w="12700">
            <a:solidFill>
              <a:srgbClr val="0D1B40"/>
            </a:solidFill>
            <a:prstDash val="solid"/>
          </a:ln>
        </p:spPr>
      </p:sp>
      <p:sp>
        <p:nvSpPr>
          <p:cNvPr id="1048799" name="Text 17"/>
          <p:cNvSpPr/>
          <p:nvPr/>
        </p:nvSpPr>
        <p:spPr>
          <a:xfrm>
            <a:off x="6126480" y="1005840"/>
            <a:ext cx="2651760" cy="45720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b="1" dirty="0" sz="1300" lang="en-US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DATABASE</a:t>
            </a:r>
            <a:endParaRPr dirty="0" sz="1300" lang="en-US"/>
          </a:p>
        </p:txBody>
      </p:sp>
      <p:sp>
        <p:nvSpPr>
          <p:cNvPr id="1048800" name="Shape 18"/>
          <p:cNvSpPr/>
          <p:nvPr/>
        </p:nvSpPr>
        <p:spPr>
          <a:xfrm>
            <a:off x="6126480" y="1463040"/>
            <a:ext cx="265176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D1E8EC"/>
            </a:solidFill>
            <a:prstDash val="solid"/>
          </a:ln>
        </p:spPr>
      </p:sp>
      <p:sp>
        <p:nvSpPr>
          <p:cNvPr id="1048801" name="Text 19"/>
          <p:cNvSpPr/>
          <p:nvPr/>
        </p:nvSpPr>
        <p:spPr>
          <a:xfrm>
            <a:off x="6217920" y="1536192"/>
            <a:ext cx="2468880" cy="402336"/>
          </a:xfrm>
          <a:prstGeom prst="rect"/>
          <a:noFill/>
        </p:spPr>
        <p:txBody>
          <a:bodyPr anchor="ctr" rtlCol="0" wrap="square"/>
          <a:p>
            <a:pPr indent="-342900" marL="342900">
              <a:buSzPct val="100000"/>
              <a:buChar char="•"/>
            </a:pPr>
            <a:r>
              <a:rPr dirty="0" sz="1100" lang="en-US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MySQL 8.x — DBMS</a:t>
            </a:r>
            <a:endParaRPr dirty="0" sz="1100" lang="en-US"/>
          </a:p>
        </p:txBody>
      </p:sp>
      <p:sp>
        <p:nvSpPr>
          <p:cNvPr id="1048802" name="Text 20"/>
          <p:cNvSpPr/>
          <p:nvPr/>
        </p:nvSpPr>
        <p:spPr>
          <a:xfrm>
            <a:off x="6217920" y="1975104"/>
            <a:ext cx="2468880" cy="402336"/>
          </a:xfrm>
          <a:prstGeom prst="rect"/>
          <a:noFill/>
        </p:spPr>
        <p:txBody>
          <a:bodyPr anchor="ctr" rtlCol="0" wrap="square"/>
          <a:p>
            <a:pPr indent="-342900" marL="342900">
              <a:buSzPct val="100000"/>
              <a:buChar char="•"/>
            </a:pPr>
            <a:r>
              <a:rPr dirty="0" sz="1100" lang="en-US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Tabel: users</a:t>
            </a:r>
            <a:endParaRPr dirty="0" sz="1100" lang="en-US"/>
          </a:p>
        </p:txBody>
      </p:sp>
      <p:sp>
        <p:nvSpPr>
          <p:cNvPr id="1048803" name="Text 21"/>
          <p:cNvSpPr/>
          <p:nvPr/>
        </p:nvSpPr>
        <p:spPr>
          <a:xfrm>
            <a:off x="6217920" y="2414016"/>
            <a:ext cx="2468880" cy="402336"/>
          </a:xfrm>
          <a:prstGeom prst="rect"/>
          <a:noFill/>
        </p:spPr>
        <p:txBody>
          <a:bodyPr anchor="ctr" rtlCol="0" wrap="square"/>
          <a:p>
            <a:pPr indent="-342900" marL="342900">
              <a:buSzPct val="100000"/>
              <a:buChar char="•"/>
            </a:pPr>
            <a:r>
              <a:rPr dirty="0" sz="1100" lang="en-US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Tabel: mahasiswa</a:t>
            </a:r>
            <a:endParaRPr dirty="0" sz="1100" lang="en-US"/>
          </a:p>
        </p:txBody>
      </p:sp>
      <p:sp>
        <p:nvSpPr>
          <p:cNvPr id="1048804" name="Text 22"/>
          <p:cNvSpPr/>
          <p:nvPr/>
        </p:nvSpPr>
        <p:spPr>
          <a:xfrm>
            <a:off x="6217920" y="2852928"/>
            <a:ext cx="2468880" cy="402336"/>
          </a:xfrm>
          <a:prstGeom prst="rect"/>
          <a:noFill/>
        </p:spPr>
        <p:txBody>
          <a:bodyPr anchor="ctr" rtlCol="0" wrap="square"/>
          <a:p>
            <a:pPr indent="-342900" marL="342900">
              <a:buSzPct val="100000"/>
              <a:buChar char="•"/>
            </a:pPr>
            <a:r>
              <a:rPr dirty="0" sz="1100" lang="en-US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XAMPP — Server lokal</a:t>
            </a:r>
            <a:endParaRPr dirty="0" sz="1100" lang="en-US"/>
          </a:p>
        </p:txBody>
      </p:sp>
      <p:sp>
        <p:nvSpPr>
          <p:cNvPr id="1048805" name="Text 23"/>
          <p:cNvSpPr/>
          <p:nvPr/>
        </p:nvSpPr>
        <p:spPr>
          <a:xfrm>
            <a:off x="365760" y="3520440"/>
            <a:ext cx="8412480" cy="36576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1400" lang="en-US">
                <a:solidFill>
                  <a:srgbClr val="0D1B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  Fitur yang Telah Diimplementasikan (8/8 Selesai)</a:t>
            </a:r>
            <a:endParaRPr dirty="0" sz="1400" lang="en-US"/>
          </a:p>
        </p:txBody>
      </p:sp>
      <p:sp>
        <p:nvSpPr>
          <p:cNvPr id="1048806" name="Shape 24"/>
          <p:cNvSpPr/>
          <p:nvPr/>
        </p:nvSpPr>
        <p:spPr>
          <a:xfrm>
            <a:off x="365760" y="3977640"/>
            <a:ext cx="1920240" cy="457200"/>
          </a:xfrm>
          <a:prstGeom prst="roundRect">
            <a:avLst>
              <a:gd name="adj" fmla="val 10000"/>
            </a:avLst>
          </a:prstGeom>
          <a:solidFill>
            <a:srgbClr val="E6F7F5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048807" name="Text 25"/>
          <p:cNvSpPr/>
          <p:nvPr/>
        </p:nvSpPr>
        <p:spPr>
          <a:xfrm>
            <a:off x="438912" y="3977640"/>
            <a:ext cx="1828800" cy="45720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000" lang="en-US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  Login &amp; Logout</a:t>
            </a:r>
            <a:endParaRPr dirty="0" sz="1000" lang="en-US"/>
          </a:p>
        </p:txBody>
      </p:sp>
      <p:sp>
        <p:nvSpPr>
          <p:cNvPr id="1048808" name="Shape 26"/>
          <p:cNvSpPr/>
          <p:nvPr/>
        </p:nvSpPr>
        <p:spPr>
          <a:xfrm>
            <a:off x="2496312" y="3977640"/>
            <a:ext cx="1920240" cy="457200"/>
          </a:xfrm>
          <a:prstGeom prst="roundRect">
            <a:avLst>
              <a:gd name="adj" fmla="val 10000"/>
            </a:avLst>
          </a:prstGeom>
          <a:solidFill>
            <a:srgbClr val="E6F7F5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048809" name="Text 27"/>
          <p:cNvSpPr/>
          <p:nvPr/>
        </p:nvSpPr>
        <p:spPr>
          <a:xfrm>
            <a:off x="2569464" y="3977640"/>
            <a:ext cx="1828800" cy="45720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000" lang="en-US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  Dashboard Admin</a:t>
            </a:r>
            <a:endParaRPr dirty="0" sz="1000" lang="en-US"/>
          </a:p>
        </p:txBody>
      </p:sp>
      <p:sp>
        <p:nvSpPr>
          <p:cNvPr id="1048810" name="Shape 28"/>
          <p:cNvSpPr/>
          <p:nvPr/>
        </p:nvSpPr>
        <p:spPr>
          <a:xfrm>
            <a:off x="4626864" y="3977640"/>
            <a:ext cx="1920240" cy="457200"/>
          </a:xfrm>
          <a:prstGeom prst="roundRect">
            <a:avLst>
              <a:gd name="adj" fmla="val 10000"/>
            </a:avLst>
          </a:prstGeom>
          <a:solidFill>
            <a:srgbClr val="E6F7F5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048811" name="Text 29"/>
          <p:cNvSpPr/>
          <p:nvPr/>
        </p:nvSpPr>
        <p:spPr>
          <a:xfrm>
            <a:off x="4700016" y="3977640"/>
            <a:ext cx="1828800" cy="45720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000" lang="en-US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  CRUD Mahasiswa</a:t>
            </a:r>
            <a:endParaRPr dirty="0" sz="1000" lang="en-US"/>
          </a:p>
        </p:txBody>
      </p:sp>
      <p:sp>
        <p:nvSpPr>
          <p:cNvPr id="1048812" name="Shape 30"/>
          <p:cNvSpPr/>
          <p:nvPr/>
        </p:nvSpPr>
        <p:spPr>
          <a:xfrm>
            <a:off x="6757416" y="3977640"/>
            <a:ext cx="1920240" cy="457200"/>
          </a:xfrm>
          <a:prstGeom prst="roundRect">
            <a:avLst>
              <a:gd name="adj" fmla="val 10000"/>
            </a:avLst>
          </a:prstGeom>
          <a:solidFill>
            <a:srgbClr val="E6F7F5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048813" name="Text 31"/>
          <p:cNvSpPr/>
          <p:nvPr/>
        </p:nvSpPr>
        <p:spPr>
          <a:xfrm>
            <a:off x="6830568" y="3977640"/>
            <a:ext cx="1828800" cy="45720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000" lang="en-US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  Statistik Mahasiswa</a:t>
            </a:r>
            <a:endParaRPr dirty="0" sz="1000" lang="en-US"/>
          </a:p>
        </p:txBody>
      </p:sp>
      <p:sp>
        <p:nvSpPr>
          <p:cNvPr id="1048814" name="Shape 32"/>
          <p:cNvSpPr/>
          <p:nvPr/>
        </p:nvSpPr>
        <p:spPr>
          <a:xfrm>
            <a:off x="365760" y="4526280"/>
            <a:ext cx="1920240" cy="457200"/>
          </a:xfrm>
          <a:prstGeom prst="roundRect">
            <a:avLst>
              <a:gd name="adj" fmla="val 10000"/>
            </a:avLst>
          </a:prstGeom>
          <a:solidFill>
            <a:srgbClr val="E6F7F5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048815" name="Text 33"/>
          <p:cNvSpPr/>
          <p:nvPr/>
        </p:nvSpPr>
        <p:spPr>
          <a:xfrm>
            <a:off x="438912" y="4526280"/>
            <a:ext cx="1828800" cy="45720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000" lang="en-US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  Statistik Jurusan</a:t>
            </a:r>
            <a:endParaRPr dirty="0" sz="1000" lang="en-US"/>
          </a:p>
        </p:txBody>
      </p:sp>
      <p:sp>
        <p:nvSpPr>
          <p:cNvPr id="1048816" name="Shape 34"/>
          <p:cNvSpPr/>
          <p:nvPr/>
        </p:nvSpPr>
        <p:spPr>
          <a:xfrm>
            <a:off x="2496312" y="4526280"/>
            <a:ext cx="1920240" cy="457200"/>
          </a:xfrm>
          <a:prstGeom prst="roundRect">
            <a:avLst>
              <a:gd name="adj" fmla="val 10000"/>
            </a:avLst>
          </a:prstGeom>
          <a:solidFill>
            <a:srgbClr val="E6F7F5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048817" name="Text 35"/>
          <p:cNvSpPr/>
          <p:nvPr/>
        </p:nvSpPr>
        <p:spPr>
          <a:xfrm>
            <a:off x="2569464" y="4526280"/>
            <a:ext cx="1828800" cy="45720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000" lang="en-US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  Pencarian Mahasiswa</a:t>
            </a:r>
            <a:endParaRPr dirty="0" sz="1000" lang="en-US"/>
          </a:p>
        </p:txBody>
      </p:sp>
      <p:sp>
        <p:nvSpPr>
          <p:cNvPr id="1048818" name="Shape 36"/>
          <p:cNvSpPr/>
          <p:nvPr/>
        </p:nvSpPr>
        <p:spPr>
          <a:xfrm>
            <a:off x="4626864" y="4526280"/>
            <a:ext cx="1920240" cy="457200"/>
          </a:xfrm>
          <a:prstGeom prst="roundRect">
            <a:avLst>
              <a:gd name="adj" fmla="val 10000"/>
            </a:avLst>
          </a:prstGeom>
          <a:solidFill>
            <a:srgbClr val="E6F7F5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048819" name="Text 37"/>
          <p:cNvSpPr/>
          <p:nvPr/>
        </p:nvSpPr>
        <p:spPr>
          <a:xfrm>
            <a:off x="4700016" y="4526280"/>
            <a:ext cx="1828800" cy="45720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000" lang="en-US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  Responsive Design</a:t>
            </a:r>
            <a:endParaRPr dirty="0" sz="1000" lang="en-US"/>
          </a:p>
        </p:txBody>
      </p:sp>
      <p:sp>
        <p:nvSpPr>
          <p:cNvPr id="1048820" name="Shape 38"/>
          <p:cNvSpPr/>
          <p:nvPr/>
        </p:nvSpPr>
        <p:spPr>
          <a:xfrm>
            <a:off x="6757416" y="4526280"/>
            <a:ext cx="1920240" cy="457200"/>
          </a:xfrm>
          <a:prstGeom prst="roundRect">
            <a:avLst>
              <a:gd name="adj" fmla="val 10000"/>
            </a:avLst>
          </a:prstGeom>
          <a:solidFill>
            <a:srgbClr val="E6F7F5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048821" name="Text 39"/>
          <p:cNvSpPr/>
          <p:nvPr/>
        </p:nvSpPr>
        <p:spPr>
          <a:xfrm>
            <a:off x="6830568" y="4526280"/>
            <a:ext cx="1828800" cy="45720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000" lang="en-US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  Validasi Form</a:t>
            </a:r>
            <a:endParaRPr dirty="0" sz="1000"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1" name=""/>
        <p:cNvGrpSpPr/>
        <p:nvPr/>
      </p:nvGrpSpPr>
      <p:grpSpPr>
        <a:xfrm/>
      </p:grpSpPr>
      <p:pic>
        <p:nvPicPr>
          <p:cNvPr id="2097152" name="Gambar 1" descr="Login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1070610" y="1056640"/>
            <a:ext cx="7002780" cy="3651885"/>
          </a:xfrm>
          <a:prstGeom prst="rect"/>
        </p:spPr>
      </p:pic>
      <p:sp>
        <p:nvSpPr>
          <p:cNvPr id="1048825" name="Text 1"/>
          <p:cNvSpPr/>
          <p:nvPr/>
        </p:nvSpPr>
        <p:spPr>
          <a:xfrm>
            <a:off x="0" y="0"/>
            <a:ext cx="9144000" cy="973455"/>
          </a:xfrm>
          <a:prstGeom prst="rect"/>
          <a:solidFill>
            <a:schemeClr val="tx1"/>
          </a:solidFill>
        </p:spPr>
        <p:txBody>
          <a:bodyPr anchor="ctr" rtlCol="0" wrap="square"/>
          <a:p>
            <a:pPr algn="ctr" indent="0" marL="0">
              <a:buNone/>
            </a:pPr>
            <a:r>
              <a:rPr b="1" dirty="0" sz="2100" lang="id-ID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Halaman Login</a:t>
            </a:r>
            <a:endParaRPr dirty="0" sz="2100" lang="id-ID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2" name=""/>
        <p:cNvGrpSpPr/>
        <p:nvPr/>
      </p:nvGrpSpPr>
      <p:grpSpPr>
        <a:xfrm/>
      </p:grpSpPr>
      <p:pic>
        <p:nvPicPr>
          <p:cNvPr id="2097153" name="Gambar 1" descr="Dashboard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844550" y="1134745"/>
            <a:ext cx="7454900" cy="3895725"/>
          </a:xfrm>
          <a:prstGeom prst="rect"/>
        </p:spPr>
      </p:pic>
      <p:sp>
        <p:nvSpPr>
          <p:cNvPr id="1048826" name="Text 1"/>
          <p:cNvSpPr/>
          <p:nvPr/>
        </p:nvSpPr>
        <p:spPr>
          <a:xfrm>
            <a:off x="0" y="0"/>
            <a:ext cx="9144000" cy="973455"/>
          </a:xfrm>
          <a:prstGeom prst="rect"/>
          <a:solidFill>
            <a:schemeClr val="tx1"/>
          </a:solidFill>
        </p:spPr>
        <p:txBody>
          <a:bodyPr anchor="ctr" rtlCol="0" wrap="square"/>
          <a:p>
            <a:pPr algn="ctr" indent="0" marL="0">
              <a:buNone/>
            </a:pPr>
            <a:r>
              <a:rPr b="1" dirty="0" sz="2100" lang="id-ID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Dashboard</a:t>
            </a:r>
            <a:endParaRPr dirty="0" sz="2100" lang="id-ID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3" name=""/>
        <p:cNvGrpSpPr/>
        <p:nvPr/>
      </p:nvGrpSpPr>
      <p:grpSpPr>
        <a:xfrm/>
      </p:grpSpPr>
      <p:sp>
        <p:nvSpPr>
          <p:cNvPr id="1048827" name="Text 1"/>
          <p:cNvSpPr/>
          <p:nvPr/>
        </p:nvSpPr>
        <p:spPr>
          <a:xfrm>
            <a:off x="0" y="-46990"/>
            <a:ext cx="9144000" cy="973455"/>
          </a:xfrm>
          <a:prstGeom prst="rect"/>
          <a:solidFill>
            <a:schemeClr val="tx1"/>
          </a:solidFill>
        </p:spPr>
        <p:txBody>
          <a:bodyPr anchor="ctr" rtlCol="0" wrap="square"/>
          <a:p>
            <a:pPr algn="ctr" indent="0" marL="0">
              <a:buNone/>
            </a:pPr>
            <a:r>
              <a:rPr b="1" dirty="0" sz="2100" lang="id-ID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 Mahasiswa</a:t>
            </a:r>
            <a:endParaRPr dirty="0" sz="2100" lang="id-ID"/>
          </a:p>
        </p:txBody>
      </p:sp>
      <p:pic>
        <p:nvPicPr>
          <p:cNvPr id="2097154" name="Gambar 1" descr="Data Mahasiswa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363855" y="1390650"/>
            <a:ext cx="8416290" cy="2991485"/>
          </a:xfrm>
          <a:prstGeom prst="rect"/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4" name=""/>
        <p:cNvGrpSpPr/>
        <p:nvPr/>
      </p:nvGrpSpPr>
      <p:grpSpPr>
        <a:xfrm/>
      </p:grpSpPr>
      <p:sp>
        <p:nvSpPr>
          <p:cNvPr id="1048828" name="Text 1"/>
          <p:cNvSpPr/>
          <p:nvPr/>
        </p:nvSpPr>
        <p:spPr>
          <a:xfrm>
            <a:off x="0" y="0"/>
            <a:ext cx="9144000" cy="973455"/>
          </a:xfrm>
          <a:prstGeom prst="rect"/>
          <a:solidFill>
            <a:schemeClr val="tx1"/>
          </a:solidFill>
        </p:spPr>
        <p:txBody>
          <a:bodyPr anchor="ctr" rtlCol="0" wrap="square"/>
          <a:p>
            <a:pPr algn="ctr" indent="0" marL="0">
              <a:buNone/>
            </a:pPr>
            <a:r>
              <a:rPr b="1" dirty="0" sz="2100" lang="id-ID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Tambah Mahasiswa</a:t>
            </a:r>
            <a:endParaRPr dirty="0" sz="2100" lang="id-ID"/>
          </a:p>
        </p:txBody>
      </p:sp>
      <p:pic>
        <p:nvPicPr>
          <p:cNvPr id="2097155" name="Gambar 1" descr="Tambah mahasiswa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815340" y="1246505"/>
            <a:ext cx="7513320" cy="3531870"/>
          </a:xfrm>
          <a:prstGeom prst="rect"/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5" name=""/>
        <p:cNvGrpSpPr/>
        <p:nvPr/>
      </p:nvGrpSpPr>
      <p:grpSpPr>
        <a:xfrm/>
      </p:grpSpPr>
      <p:pic>
        <p:nvPicPr>
          <p:cNvPr id="2097156" name="Gambar 1" descr="Update Mahasiswa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552450" y="1094105"/>
            <a:ext cx="8038465" cy="3898265"/>
          </a:xfrm>
          <a:prstGeom prst="rect"/>
        </p:spPr>
      </p:pic>
      <p:sp>
        <p:nvSpPr>
          <p:cNvPr id="1048829" name="Text 1"/>
          <p:cNvSpPr/>
          <p:nvPr/>
        </p:nvSpPr>
        <p:spPr>
          <a:xfrm>
            <a:off x="0" y="0"/>
            <a:ext cx="9144000" cy="973455"/>
          </a:xfrm>
          <a:prstGeom prst="rect"/>
          <a:solidFill>
            <a:schemeClr val="tx1"/>
          </a:solidFill>
        </p:spPr>
        <p:txBody>
          <a:bodyPr anchor="ctr" rtlCol="0" wrap="square"/>
          <a:p>
            <a:pPr algn="ctr" indent="0" marL="0">
              <a:buNone/>
            </a:pPr>
            <a:r>
              <a:rPr b="1" dirty="0" sz="2100" lang="id-ID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Edit Mahasiswa</a:t>
            </a:r>
            <a:endParaRPr dirty="0" sz="2100" lang="id-ID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6" name=""/>
        <p:cNvGrpSpPr/>
        <p:nvPr/>
      </p:nvGrpSpPr>
      <p:grpSpPr>
        <a:xfrm/>
      </p:grpSpPr>
      <p:sp>
        <p:nvSpPr>
          <p:cNvPr id="1048830" name="Text 1"/>
          <p:cNvSpPr/>
          <p:nvPr/>
        </p:nvSpPr>
        <p:spPr>
          <a:xfrm>
            <a:off x="0" y="0"/>
            <a:ext cx="9144000" cy="973455"/>
          </a:xfrm>
          <a:prstGeom prst="rect"/>
          <a:solidFill>
            <a:schemeClr val="tx1"/>
          </a:solidFill>
        </p:spPr>
        <p:txBody>
          <a:bodyPr anchor="ctr" rtlCol="0" wrap="square"/>
          <a:p>
            <a:pPr algn="ctr" indent="0" marL="0">
              <a:buNone/>
            </a:pPr>
            <a:r>
              <a:rPr b="1" dirty="0" sz="2100" lang="id-ID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Hapus Mahasiswa</a:t>
            </a:r>
            <a:endParaRPr dirty="0" sz="2100" lang="id-ID"/>
          </a:p>
        </p:txBody>
      </p:sp>
      <p:pic>
        <p:nvPicPr>
          <p:cNvPr id="2097157" name="Gambar 1" descr="Hapus Mahasiswa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287655" y="1426845"/>
            <a:ext cx="8431530" cy="3166745"/>
          </a:xfrm>
          <a:prstGeom prst="rect"/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7" name=""/>
        <p:cNvGrpSpPr/>
        <p:nvPr/>
      </p:nvGrpSpPr>
      <p:grpSpPr>
        <a:xfrm/>
      </p:grpSpPr>
      <p:sp>
        <p:nvSpPr>
          <p:cNvPr id="1048831" name="Text 1"/>
          <p:cNvSpPr/>
          <p:nvPr/>
        </p:nvSpPr>
        <p:spPr>
          <a:xfrm>
            <a:off x="0" y="0"/>
            <a:ext cx="9144000" cy="973455"/>
          </a:xfrm>
          <a:prstGeom prst="rect"/>
          <a:solidFill>
            <a:schemeClr val="tx1"/>
          </a:solidFill>
        </p:spPr>
        <p:txBody>
          <a:bodyPr anchor="ctr" rtlCol="0" wrap="square"/>
          <a:p>
            <a:pPr algn="ctr" indent="0" marL="0">
              <a:buNone/>
            </a:pPr>
            <a:r>
              <a:rPr b="1" dirty="0" sz="2100" lang="id-ID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Cari Mahasiswa</a:t>
            </a:r>
            <a:endParaRPr dirty="0" sz="2100" lang="id-ID"/>
          </a:p>
        </p:txBody>
      </p:sp>
      <p:pic>
        <p:nvPicPr>
          <p:cNvPr id="2097158" name="Gambar 1" descr="Cari Mahasiswa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0" y="1651000"/>
            <a:ext cx="9144000" cy="2306320"/>
          </a:xfrm>
          <a:prstGeom prst="rect"/>
        </p:spPr>
      </p:pic>
      <p:sp>
        <p:nvSpPr>
          <p:cNvPr id="1048832" name="Kotak Teks 2"/>
          <p:cNvSpPr txBox="1"/>
          <p:nvPr/>
        </p:nvSpPr>
        <p:spPr>
          <a:xfrm>
            <a:off x="6212205" y="5719445"/>
            <a:ext cx="3048000" cy="368300"/>
          </a:xfrm>
          <a:prstGeom prst="rect"/>
          <a:noFill/>
        </p:spPr>
        <p:txBody>
          <a:bodyPr rtlCol="0" wrap="square">
            <a:spAutoFit/>
          </a:bodyPr>
          <a:p>
            <a:endParaRPr altLang="en-US" lang="id-ID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40"/>
        </a:solidFill>
        <a:effectLst/>
      </p:bgPr>
    </p:bg>
    <p:spTree>
      <p:nvGrpSpPr>
        <p:cNvPr id="4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33" name="Shape 0"/>
          <p:cNvSpPr/>
          <p:nvPr/>
        </p:nvSpPr>
        <p:spPr>
          <a:xfrm>
            <a:off x="6583680" y="-731520"/>
            <a:ext cx="3657600" cy="3657600"/>
          </a:xfrm>
          <a:prstGeom prst="ellipse"/>
          <a:solidFill>
            <a:srgbClr val="028090">
              <a:alpha val="20000"/>
            </a:srgbClr>
          </a:solidFill>
          <a:ln w="12700">
            <a:solidFill>
              <a:srgbClr val="028090">
                <a:alpha val="20000"/>
              </a:srgbClr>
            </a:solidFill>
            <a:prstDash val="solid"/>
          </a:ln>
        </p:spPr>
      </p:sp>
      <p:sp>
        <p:nvSpPr>
          <p:cNvPr id="1048834" name="Shape 1"/>
          <p:cNvSpPr/>
          <p:nvPr/>
        </p:nvSpPr>
        <p:spPr>
          <a:xfrm>
            <a:off x="-914400" y="3657600"/>
            <a:ext cx="2743200" cy="2743200"/>
          </a:xfrm>
          <a:prstGeom prst="ellipse"/>
          <a:solidFill>
            <a:srgbClr val="02C39A">
              <a:alpha val="18000"/>
            </a:srgbClr>
          </a:solidFill>
          <a:ln w="12700">
            <a:solidFill>
              <a:srgbClr val="02C39A">
                <a:alpha val="18000"/>
              </a:srgbClr>
            </a:solidFill>
            <a:prstDash val="solid"/>
          </a:ln>
        </p:spPr>
      </p:sp>
      <p:sp>
        <p:nvSpPr>
          <p:cNvPr id="1048835" name="Text 3"/>
          <p:cNvSpPr/>
          <p:nvPr/>
        </p:nvSpPr>
        <p:spPr>
          <a:xfrm>
            <a:off x="457200" y="228600"/>
            <a:ext cx="2286000" cy="36576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100" lang="en-US">
                <a:solidFill>
                  <a:srgbClr val="0D1B40"/>
                </a:solidFill>
              </a:rPr>
              <a:t>BAB VII  </a:t>
            </a:r>
            <a:endParaRPr dirty="0" sz="1100" lang="en-US"/>
          </a:p>
        </p:txBody>
      </p:sp>
      <p:sp>
        <p:nvSpPr>
          <p:cNvPr id="1048836" name="Text 4"/>
          <p:cNvSpPr/>
          <p:nvPr/>
        </p:nvSpPr>
        <p:spPr>
          <a:xfrm>
            <a:off x="457200" y="685800"/>
            <a:ext cx="4114800" cy="45720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2200" lang="en-US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Kesimpulan</a:t>
            </a:r>
            <a:endParaRPr dirty="0" sz="2200" lang="en-US"/>
          </a:p>
        </p:txBody>
      </p:sp>
      <p:sp>
        <p:nvSpPr>
          <p:cNvPr id="1048837" name="Shape 5"/>
          <p:cNvSpPr/>
          <p:nvPr/>
        </p:nvSpPr>
        <p:spPr>
          <a:xfrm>
            <a:off x="457200" y="1234440"/>
            <a:ext cx="274320" cy="274320"/>
          </a:xfrm>
          <a:prstGeom prst="ellipse"/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048838" name="Text 6"/>
          <p:cNvSpPr/>
          <p:nvPr/>
        </p:nvSpPr>
        <p:spPr>
          <a:xfrm>
            <a:off x="868680" y="1188720"/>
            <a:ext cx="3931920" cy="64008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100" lang="en-US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T-Verse berhasil dikembangkan sebagai sistem pendataan mahasiswa berbasis web yang memenuhi seluruh kebutuhan fungsional.</a:t>
            </a:r>
            <a:endParaRPr dirty="0" sz="1100" lang="en-US"/>
          </a:p>
        </p:txBody>
      </p:sp>
      <p:sp>
        <p:nvSpPr>
          <p:cNvPr id="1048839" name="Shape 7"/>
          <p:cNvSpPr/>
          <p:nvPr/>
        </p:nvSpPr>
        <p:spPr>
          <a:xfrm>
            <a:off x="457200" y="1984248"/>
            <a:ext cx="274320" cy="274320"/>
          </a:xfrm>
          <a:prstGeom prst="ellipse"/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048840" name="Text 8"/>
          <p:cNvSpPr/>
          <p:nvPr/>
        </p:nvSpPr>
        <p:spPr>
          <a:xfrm>
            <a:off x="868680" y="1938528"/>
            <a:ext cx="3931920" cy="64008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100" lang="en-US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Laravel 12 terbukti efektif mempercepat pengembangan berkat Eloquent ORM, routing, dan autentikasi bawaan.</a:t>
            </a:r>
            <a:endParaRPr dirty="0" sz="1100" lang="en-US"/>
          </a:p>
        </p:txBody>
      </p:sp>
      <p:sp>
        <p:nvSpPr>
          <p:cNvPr id="1048841" name="Shape 9"/>
          <p:cNvSpPr/>
          <p:nvPr/>
        </p:nvSpPr>
        <p:spPr>
          <a:xfrm>
            <a:off x="457200" y="2734056"/>
            <a:ext cx="274320" cy="274320"/>
          </a:xfrm>
          <a:prstGeom prst="ellipse"/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048842" name="Text 10"/>
          <p:cNvSpPr/>
          <p:nvPr/>
        </p:nvSpPr>
        <p:spPr>
          <a:xfrm>
            <a:off x="868680" y="2688336"/>
            <a:ext cx="3931920" cy="64008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100" lang="en-US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Seluruh 8 fitur utama berhasil diimplementasikan: login, dashboard, CRUD, statistik, pencarian, dan responsif.</a:t>
            </a:r>
            <a:endParaRPr dirty="0" sz="1100" lang="en-US"/>
          </a:p>
        </p:txBody>
      </p:sp>
      <p:sp>
        <p:nvSpPr>
          <p:cNvPr id="1048843" name="Text 12"/>
          <p:cNvSpPr/>
          <p:nvPr/>
        </p:nvSpPr>
        <p:spPr>
          <a:xfrm>
            <a:off x="6007735" y="777240"/>
            <a:ext cx="2679065" cy="41148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endParaRPr dirty="0" sz="1400" lang="en-US"/>
          </a:p>
        </p:txBody>
      </p:sp>
      <p:sp>
        <p:nvSpPr>
          <p:cNvPr id="1048844" name="Text 13"/>
          <p:cNvSpPr/>
          <p:nvPr/>
        </p:nvSpPr>
        <p:spPr>
          <a:xfrm>
            <a:off x="5120640" y="1188720"/>
            <a:ext cx="3520440" cy="530352"/>
          </a:xfrm>
          <a:prstGeom prst="rect"/>
          <a:noFill/>
        </p:spPr>
        <p:txBody>
          <a:bodyPr anchor="ctr" rtlCol="0" wrap="square"/>
          <a:p>
            <a:pPr indent="0">
              <a:buSzPct val="100000"/>
              <a:buNone/>
            </a:pPr>
            <a:endParaRPr dirty="0" sz="1200" lang="en-US"/>
          </a:p>
        </p:txBody>
      </p:sp>
      <p:sp>
        <p:nvSpPr>
          <p:cNvPr id="1048845" name="Text 14"/>
          <p:cNvSpPr/>
          <p:nvPr/>
        </p:nvSpPr>
        <p:spPr>
          <a:xfrm>
            <a:off x="5120640" y="1764792"/>
            <a:ext cx="3520440" cy="530352"/>
          </a:xfrm>
          <a:prstGeom prst="rect"/>
          <a:noFill/>
        </p:spPr>
        <p:txBody>
          <a:bodyPr anchor="ctr" rtlCol="0" wrap="square"/>
          <a:p>
            <a:pPr indent="0">
              <a:buSzPct val="100000"/>
              <a:buNone/>
            </a:pPr>
            <a:endParaRPr dirty="0" sz="1200" lang="en-US"/>
          </a:p>
        </p:txBody>
      </p:sp>
      <p:sp>
        <p:nvSpPr>
          <p:cNvPr id="1048846" name="Text 15"/>
          <p:cNvSpPr/>
          <p:nvPr/>
        </p:nvSpPr>
        <p:spPr>
          <a:xfrm>
            <a:off x="5120640" y="2340864"/>
            <a:ext cx="3520440" cy="530352"/>
          </a:xfrm>
          <a:prstGeom prst="rect"/>
          <a:noFill/>
        </p:spPr>
        <p:txBody>
          <a:bodyPr anchor="ctr" rtlCol="0" wrap="square"/>
          <a:p>
            <a:pPr indent="0">
              <a:buSzPct val="100000"/>
              <a:buNone/>
            </a:pPr>
            <a:endParaRPr dirty="0" sz="1200" lang="en-US"/>
          </a:p>
        </p:txBody>
      </p:sp>
      <p:sp>
        <p:nvSpPr>
          <p:cNvPr id="1048847" name="Text 16"/>
          <p:cNvSpPr/>
          <p:nvPr/>
        </p:nvSpPr>
        <p:spPr>
          <a:xfrm>
            <a:off x="5120640" y="2916936"/>
            <a:ext cx="3520440" cy="530352"/>
          </a:xfrm>
          <a:prstGeom prst="rect"/>
          <a:noFill/>
        </p:spPr>
        <p:txBody>
          <a:bodyPr anchor="ctr" rtlCol="0" wrap="square"/>
          <a:p>
            <a:pPr indent="0">
              <a:buSzPct val="100000"/>
              <a:buNone/>
            </a:pPr>
            <a:endParaRPr dirty="0" sz="1200" lang="en-US"/>
          </a:p>
        </p:txBody>
      </p:sp>
      <p:sp>
        <p:nvSpPr>
          <p:cNvPr id="1048848" name="Text 17"/>
          <p:cNvSpPr/>
          <p:nvPr/>
        </p:nvSpPr>
        <p:spPr>
          <a:xfrm>
            <a:off x="5120640" y="3493008"/>
            <a:ext cx="3520440" cy="530352"/>
          </a:xfrm>
          <a:prstGeom prst="rect"/>
          <a:noFill/>
        </p:spPr>
        <p:txBody>
          <a:bodyPr anchor="ctr" rtlCol="0" wrap="square"/>
          <a:p>
            <a:pPr indent="0">
              <a:buSzPct val="100000"/>
              <a:buNone/>
            </a:pPr>
            <a:endParaRPr dirty="0" sz="1200" lang="en-US"/>
          </a:p>
        </p:txBody>
      </p:sp>
      <p:sp>
        <p:nvSpPr>
          <p:cNvPr id="1048849" name="Text 18"/>
          <p:cNvSpPr/>
          <p:nvPr/>
        </p:nvSpPr>
        <p:spPr>
          <a:xfrm>
            <a:off x="457200" y="4343400"/>
            <a:ext cx="4114800" cy="59436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3200" lang="en-US">
                <a:solidFill>
                  <a:srgbClr val="02C39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Terima Kasih</a:t>
            </a:r>
            <a:endParaRPr dirty="0" sz="3200"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lastClr="000000" val="windowText"/>
      </a:dk1>
      <a:lt1>
        <a:sysClr lastClr="FFFFFF" val="window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algn="ctr" blurRad="57150" dir="5400000" dist="19050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lastClr="000000" val="windowText"/>
      </a:dk1>
      <a:lt1>
        <a:sysClr lastClr="FFFFFF" val="window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algn="ctr" blurRad="57150" dir="5400000" dist="19050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>
  <Application>WPS Presentation</Application>
  <ScaleCrop>0</ScaleCrop>
  <Company>PptxGenJS</Company>
  <LinksUpToDate>0</LinksUpToDate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T-Verse - Sistem Pendataan Mahasiswa</dc:title>
  <dc:creator>PptxGenJS</dc:creator>
  <cp:lastModifiedBy>diask</cp:lastModifiedBy>
  <dcterms:created xsi:type="dcterms:W3CDTF">2026-06-13T03:04:00Z</dcterms:created>
  <dcterms:modified xsi:type="dcterms:W3CDTF">2026-06-15T04:23:32Z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1057-12.1.0.26880</vt:lpwstr>
  </property>
  <property fmtid="{D5CDD505-2E9C-101B-9397-08002B2CF9AE}" pid="3" name="ICV">
    <vt:lpwstr>586bc4f1914f4906b799cca7a375cd4d_23</vt:lpwstr>
  </property>
</Properties>
</file>